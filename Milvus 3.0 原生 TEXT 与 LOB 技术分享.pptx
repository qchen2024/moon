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各位好，今天我们来深入探讨 Milvus 3.0 中关于原生 TEXT 与 LOB 的新特性，以及如何利用这些特性高效地管理原始文本数据。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这一页是我们的目录概览。我们将从五个维度展开今天的分享：</a:t>
            </a:r>
          </a:p>
          <a:p>
            <a:pPr algn="l" marL="0" indent="0">
              <a:lnSpc>
                <a:spcPct val="100000"/>
              </a:lnSpc>
            </a:pPr>
            <a:r>
              <a:rPr lang="en-US" b="false" i="false" strike="noStrike" u="none" sz="1400">
                <a:solidFill>
                  <a:srgbClr val="000000"/>
                </a:solidFill>
              </a:rPr>
              <a:t>首先，我们会从背景与痛点切入，理解为什么我们需要进行这次架构的升级；</a:t>
            </a:r>
          </a:p>
          <a:p>
            <a:pPr algn="l" marL="0" indent="0">
              <a:lnSpc>
                <a:spcPct val="100000"/>
              </a:lnSpc>
            </a:pPr>
            <a:r>
              <a:rPr lang="en-US" b="false" i="false" strike="noStrike" u="none" sz="1400">
                <a:solidFill>
                  <a:srgbClr val="000000"/>
                </a:solidFill>
              </a:rPr>
              <a:t>接着，我们会澄清一个常见的误区，探讨 TEXT 类型与大 VARCHAR 的本质区别；</a:t>
            </a:r>
          </a:p>
          <a:p>
            <a:pPr algn="l" marL="0" indent="0">
              <a:lnSpc>
                <a:spcPct val="100000"/>
              </a:lnSpc>
            </a:pPr>
            <a:r>
              <a:rPr lang="en-US" b="false" i="false" strike="noStrike" u="none" sz="1400">
                <a:solidFill>
                  <a:srgbClr val="000000"/>
                </a:solidFill>
              </a:rPr>
              <a:t>第三部分，我们将详细介绍混合存储架构的设计理念；</a:t>
            </a:r>
          </a:p>
          <a:p>
            <a:pPr algn="l" marL="0" indent="0">
              <a:lnSpc>
                <a:spcPct val="100000"/>
              </a:lnSpc>
            </a:pPr>
            <a:r>
              <a:rPr lang="en-US" b="false" i="false" strike="noStrike" u="none" sz="1400">
                <a:solidFill>
                  <a:srgbClr val="000000"/>
                </a:solidFill>
              </a:rPr>
              <a:t>第四部分是今天的重点，深入解析 Compaction、Read 和 GC 这三大核心机制；</a:t>
            </a:r>
          </a:p>
          <a:p>
            <a:pPr algn="l" marL="0" indent="0">
              <a:lnSpc>
                <a:spcPct val="100000"/>
              </a:lnSpc>
            </a:pPr>
            <a:r>
              <a:rPr lang="en-US" b="false" i="false" strike="noStrike" u="none" sz="1400">
                <a:solidFill>
                  <a:srgbClr val="000000"/>
                </a:solidFill>
              </a:rPr>
              <a:t>最后，我们将从用户视角出发，总结架构的价值并展望未来。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大家好，今天我们来探讨一个关键问题：为什么在拥有Embedding向量技术的今天，我们依然需要原始文本？</a:t>
            </a:r>
          </a:p>
          <a:p>
            <a:pPr algn="l" marL="0" indent="0">
              <a:lnSpc>
                <a:spcPct val="100000"/>
              </a:lnSpc>
            </a:pPr>
            <a:r>
              <a:rPr lang="en-US" b="false" i="false" strike="noStrike" u="none" sz="1400">
                <a:solidFill>
                  <a:srgbClr val="000000"/>
                </a:solidFill>
              </a:rPr>
              <a:t>首先，Embedding技术确实非常强大，它解决了“语义召回”的问题，能够快速找到与用户查询意思相近的内容。但这只是检索系统的第一步。</a:t>
            </a:r>
          </a:p>
          <a:p>
            <a:pPr algn="l" marL="0" indent="0">
              <a:lnSpc>
                <a:spcPct val="100000"/>
              </a:lnSpc>
            </a:pPr>
            <a:r>
              <a:rPr lang="en-US" b="false" i="false" strike="noStrike" u="none" sz="1400">
                <a:solidFill>
                  <a:srgbClr val="000000"/>
                </a:solidFill>
              </a:rPr>
              <a:t>在整个检索链路中，原始文本扮演着不可替代的角色。大家看右侧的五个卡片：</a:t>
            </a:r>
          </a:p>
          <a:p>
            <a:pPr algn="l" marL="0" indent="0">
              <a:lnSpc>
                <a:spcPct val="100000"/>
              </a:lnSpc>
            </a:pPr>
            <a:r>
              <a:rPr lang="en-US" b="false" i="false" strike="noStrike" u="none" sz="1400">
                <a:solidFill>
                  <a:srgbClr val="000000"/>
                </a:solidFill>
              </a:rPr>
              <a:t>第一，它是词法检索的基础，能通过BM25等算法实现关键词的精确匹配，这是对语义检索的重要补充。</a:t>
            </a:r>
          </a:p>
          <a:p>
            <a:pPr algn="l" marL="0" indent="0">
              <a:lnSpc>
                <a:spcPct val="100000"/>
              </a:lnSpc>
            </a:pPr>
            <a:r>
              <a:rPr lang="en-US" b="false" i="false" strike="noStrike" u="none" sz="1400">
                <a:solidFill>
                  <a:srgbClr val="000000"/>
                </a:solidFill>
              </a:rPr>
              <a:t>第二，它支持结果的重排序，利用词频、位置等特征让最相关的内容排在最前面。</a:t>
            </a:r>
          </a:p>
          <a:p>
            <a:pPr algn="l" marL="0" indent="0">
              <a:lnSpc>
                <a:spcPct val="100000"/>
              </a:lnSpc>
            </a:pPr>
            <a:r>
              <a:rPr lang="en-US" b="false" i="false" strike="noStrike" u="none" sz="1400">
                <a:solidFill>
                  <a:srgbClr val="000000"/>
                </a:solidFill>
              </a:rPr>
              <a:t>第三，在生成式AI时代，原始文本是大模型生成答案的事实依据，能有效防止“幻觉”。</a:t>
            </a:r>
          </a:p>
          <a:p>
            <a:pPr algn="l" marL="0" indent="0">
              <a:lnSpc>
                <a:spcPct val="100000"/>
              </a:lnSpc>
            </a:pPr>
            <a:r>
              <a:rPr lang="en-US" b="false" i="false" strike="noStrike" u="none" sz="1400">
                <a:solidFill>
                  <a:srgbClr val="000000"/>
                </a:solidFill>
              </a:rPr>
              <a:t>第四，它允许我们对匹配的具体片段进行高亮，让用户看到结果为什么相关。</a:t>
            </a:r>
          </a:p>
          <a:p>
            <a:pPr algn="l" marL="0" indent="0">
              <a:lnSpc>
                <a:spcPct val="100000"/>
              </a:lnSpc>
            </a:pPr>
            <a:r>
              <a:rPr lang="en-US" b="false" i="false" strike="noStrike" u="none" sz="1400">
                <a:solidFill>
                  <a:srgbClr val="000000"/>
                </a:solidFill>
              </a:rPr>
              <a:t>最后，在金融、政务等领域，原始文本是合规审计和追溯的关键证据。</a:t>
            </a:r>
          </a:p>
          <a:p>
            <a:pPr algn="l" marL="0" indent="0">
              <a:lnSpc>
                <a:spcPct val="100000"/>
              </a:lnSpc>
            </a:pPr>
            <a:r>
              <a:rPr lang="en-US" b="false" i="false" strike="noStrike" u="none" sz="1400">
                <a:solidFill>
                  <a:srgbClr val="000000"/>
                </a:solidFill>
              </a:rPr>
              <a:t>所以，总结来说，原始文本是现代检索系统的刚需。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这一页我们来深入剖析传统的AI检索方案架构及其核心痛点。</a:t>
            </a:r>
          </a:p>
          <a:p>
            <a:pPr algn="l" marL="0" indent="0">
              <a:lnSpc>
                <a:spcPct val="100000"/>
              </a:lnSpc>
            </a:pPr>
            <a:r>
              <a:rPr lang="en-US" b="false" i="false" strike="noStrike" u="none" sz="1400">
                <a:solidFill>
                  <a:srgbClr val="000000"/>
                </a:solidFill>
              </a:rPr>
              <a:t>大家看屏幕上方的架构图，这是一种典型的“分离式”架构：左侧是专门负责向量计算的向量数据库，它存储了Embedding向量和少量的元数据，主要用于快速的相似度匹配；右侧则是传统的外部存储系统，比如S3、MongoDB或者ES，这里存储着完整的原始数据，比如文档正文、代码和日志。</a:t>
            </a:r>
          </a:p>
          <a:p>
            <a:pPr algn="l" marL="0" indent="0">
              <a:lnSpc>
                <a:spcPct val="100000"/>
              </a:lnSpc>
            </a:pPr>
            <a:r>
              <a:rPr lang="en-US" b="false" i="false" strike="noStrike" u="none" sz="1400">
                <a:solidFill>
                  <a:srgbClr val="000000"/>
                </a:solidFill>
              </a:rPr>
              <a:t>这种架构虽然分工明确，但也带来了两个非常棘手的问题，也就是屏幕下方展示的这两点：</a:t>
            </a:r>
          </a:p>
          <a:p>
            <a:pPr algn="l" marL="0" indent="0">
              <a:lnSpc>
                <a:spcPct val="100000"/>
              </a:lnSpc>
            </a:pPr>
            <a:r>
              <a:rPr lang="en-US" b="false" i="false" strike="noStrike" u="none" sz="1400">
                <a:solidFill>
                  <a:srgbClr val="000000"/>
                </a:solidFill>
              </a:rPr>
              <a:t>首先是“数据一致性风险”。因为数据被拆分为两部分存储，任何更新或删除操作都必须在两个系统之间进行“双写”。在分布式环境下，这很难做到绝对同步，经常会出现“向量查到了，但去取正文时却找不到”的尴尬情况，这对用户体验是致命的。</a:t>
            </a:r>
          </a:p>
          <a:p>
            <a:pPr algn="l" marL="0" indent="0">
              <a:lnSpc>
                <a:spcPct val="100000"/>
              </a:lnSpc>
            </a:pPr>
            <a:r>
              <a:rPr lang="en-US" b="false" i="false" strike="noStrike" u="none" sz="1400">
                <a:solidFill>
                  <a:srgbClr val="000000"/>
                </a:solidFill>
              </a:rPr>
              <a:t>其次是“检索链路冗长”。当我们需要做混合检索，比如既要语义相似又要关键词过滤时，就必须先去向量库查一遍，拿到结果后再去外部存储查一遍做二次过滤。这不仅增加了网络IO，导致查询变慢，而且很难保证这种跨系统查询的原子性，影响了系统的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大家好，今天我们来探讨一个数据库设计中常见的误区：为什么不能把 TEXT 类型简单地当作大尺寸的 VARCHAR 来使用？</a:t>
            </a:r>
          </a:p>
          <a:p>
            <a:pPr algn="l" marL="0" indent="0">
              <a:lnSpc>
                <a:spcPct val="100000"/>
              </a:lnSpc>
            </a:pPr>
            <a:r>
              <a:rPr lang="en-US" b="false" i="false" strike="noStrike" u="none" sz="1400">
                <a:solidFill>
                  <a:srgbClr val="000000"/>
                </a:solidFill>
              </a:rPr>
              <a:t>这里有四个核心原因：</a:t>
            </a:r>
          </a:p>
          <a:p>
            <a:pPr algn="l" marL="0" indent="0">
              <a:lnSpc>
                <a:spcPct val="100000"/>
              </a:lnSpc>
            </a:pPr>
            <a:r>
              <a:rPr lang="en-US" b="false" i="false" strike="noStrike" u="none" sz="1400">
                <a:solidFill>
                  <a:srgbClr val="000000"/>
                </a:solidFill>
              </a:rPr>
              <a:t>首先是内存压力。TEXT 类型的数据通常较大，会导致 Growing Segment 常驻大量数据在内存中，挤占了宝贵的缓存空间，这会直接导致缓存命中率下降，进而增加查询延迟。</a:t>
            </a:r>
          </a:p>
          <a:p>
            <a:pPr algn="l" marL="0" indent="0">
              <a:lnSpc>
                <a:spcPct val="100000"/>
              </a:lnSpc>
            </a:pPr>
            <a:r>
              <a:rPr lang="en-US" b="false" i="false" strike="noStrike" u="none" sz="1400">
                <a:solidFill>
                  <a:srgbClr val="000000"/>
                </a:solidFill>
              </a:rPr>
              <a:t>其次是存储的重复冗余。在一些分布式数据库架构中，写入节点和查询节点会分别保存一份数据副本，这意味着大文本会被双倍存储，极大地浪费了存储空间。</a:t>
            </a:r>
          </a:p>
          <a:p>
            <a:pPr algn="l" marL="0" indent="0">
              <a:lnSpc>
                <a:spcPct val="100000"/>
              </a:lnSpc>
            </a:pPr>
            <a:r>
              <a:rPr lang="en-US" b="false" i="false" strike="noStrike" u="none" sz="1400">
                <a:solidFill>
                  <a:srgbClr val="000000"/>
                </a:solidFill>
              </a:rPr>
              <a:t>第三是写放大问题。在进行 Compaction（数据合并）操作时，即使文本内容没有变化，整个包含大文本的文件也会被重写，这会产生巨大的磁盘 I/O 开销，影响系统的稳定性。</a:t>
            </a:r>
          </a:p>
          <a:p>
            <a:pPr algn="l" marL="0" indent="0">
              <a:lnSpc>
                <a:spcPct val="100000"/>
              </a:lnSpc>
            </a:pPr>
            <a:r>
              <a:rPr lang="en-US" b="false" i="false" strike="noStrike" u="none" sz="1400">
                <a:solidFill>
                  <a:srgbClr val="000000"/>
                </a:solidFill>
              </a:rPr>
              <a:t>最后是无关 I/O。即使你的查询只需要返回几个小字段，数据库引擎也不得不读取包含大文本的完整行，这引入了大量不必要的磁盘读取和网络传输，降低了查询效率。</a:t>
            </a:r>
          </a:p>
          <a:p>
            <a:pPr algn="l" marL="0" indent="0">
              <a:lnSpc>
                <a:spcPct val="100000"/>
              </a:lnSpc>
            </a:pPr>
            <a:r>
              <a:rPr lang="en-US" b="false" i="false" strike="noStrike" u="none" sz="1400">
                <a:solidFill>
                  <a:srgbClr val="000000"/>
                </a:solidFill>
              </a:rPr>
              <a:t>因此，在设计表结构时，我们需要谨慎对待大文本字段的使用。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这一页是我们的核心方案概览。Milvus 3.0 带来了一个重要的升级方向，那就是对长文本（TEXT）和大型对象（LOB）的原生支持。</a:t>
            </a:r>
          </a:p>
          <a:p>
            <a:pPr algn="l" marL="0" indent="0">
              <a:lnSpc>
                <a:spcPct val="100000"/>
              </a:lnSpc>
            </a:pPr>
            <a:r>
              <a:rPr lang="en-US" b="false" i="false" strike="noStrike" u="none" sz="1400">
                <a:solidFill>
                  <a:srgbClr val="000000"/>
                </a:solidFill>
              </a:rPr>
              <a:t>我们致力于让长文本成为数据库中的一等公民，不再是被忽视的附属数据，而是被纳入到对象存储的完整生命周期管理中。这不仅意味着存储的优化，更意味着在检索、分析和处理上的全面赋能。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这一页我们深入探讨混合存储的核心机制。</a:t>
            </a:r>
          </a:p>
          <a:p>
            <a:pPr algn="l" marL="0" indent="0">
              <a:lnSpc>
                <a:spcPct val="100000"/>
              </a:lnSpc>
            </a:pPr>
            <a:r>
              <a:rPr lang="en-US" b="false" i="false" strike="noStrike" u="none" sz="1400">
                <a:solidFill>
                  <a:srgbClr val="000000"/>
                </a:solidFill>
              </a:rPr>
              <a:t>混合存储的核心在于“因地制宜”：对于小于64KB的短文本，我们采用内联（Inline）的方式，直接将其作为字节流存储在Segment的数据块中。这种方式的好处是显而易见的，它消除了额外的磁盘IO开销，查询速度极快，非常适合存储标签、状态、简短描述等高频访问的元数据。</a:t>
            </a:r>
          </a:p>
          <a:p>
            <a:pPr algn="l" marL="0" indent="0">
              <a:lnSpc>
                <a:spcPct val="100000"/>
              </a:lnSpc>
            </a:pPr>
            <a:r>
              <a:rPr lang="en-US" b="false" i="false" strike="noStrike" u="none" sz="1400">
                <a:solidFill>
                  <a:srgbClr val="000000"/>
                </a:solidFill>
              </a:rPr>
              <a:t>而对于超过阈值的大文本，我们则采用外部存储（External LOB）的方式。系统会将大文本剥离出来，存储在独立的LOB文件中，而主表中只保留一个轻量级的引用指针，包含文件ID、偏移量和大小。这种设计的优势在于防止主索引的无限膨胀，保持查询的高效性，同时支持大对象的按需加载和独立的生命周期管理。</a:t>
            </a:r>
          </a:p>
          <a:p>
            <a:pPr algn="l" marL="0" indent="0">
              <a:lnSpc>
                <a:spcPct val="100000"/>
              </a:lnSpc>
            </a:pPr>
            <a:r>
              <a:rPr lang="en-US" b="false" i="false" strike="noStrike" u="none" sz="1400">
                <a:solidFill>
                  <a:srgbClr val="000000"/>
                </a:solidFill>
              </a:rPr>
              <a:t>大家看左下角的示意图，这是Segment Manifest中的一条数据记录，我们可以清晰地看到，短文本直接存储，而大文本则通过指针指向外部。右下角展示了物理存储的目录结构，LOB数据是按分区和字段ID进行层级组织的，确保了数据的隔离性和可管理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 Compaction 的核心策略。</a:t>
            </a:r>
          </a:p>
          <a:p>
            <a:pPr algn="l" marL="0" indent="0">
              <a:lnSpc>
                <a:spcPct val="100000"/>
              </a:lnSpc>
            </a:pPr>
            <a:r>
              <a:rPr lang="en-US" b="false" i="false" strike="noStrike" u="none" sz="1400">
                <a:solidFill>
                  <a:srgbClr val="000000"/>
                </a:solidFill>
              </a:rPr>
              <a:t>首先，大家要理解一个核心思想：能复用就不重写。因为重写大对象（LOB）文件非常消耗磁盘 IO，所以我们尽量让新的 Segment 去引用旧的 LOB，而不是去修改它。</a:t>
            </a:r>
          </a:p>
          <a:p>
            <a:pPr algn="l" marL="0" indent="0">
              <a:lnSpc>
                <a:spcPct val="100000"/>
              </a:lnSpc>
            </a:pPr>
            <a:r>
              <a:rPr lang="en-US" b="false" i="false" strike="noStrike" u="none" sz="1400">
                <a:solidFill>
                  <a:srgbClr val="000000"/>
                </a:solidFill>
              </a:rPr>
              <a:t>那么，怎么决定是复用还是重写呢？这里有一个关键的评估指标——空洞率（hole ratio），它等于未使用的行除以总行数。这个指标直接决定了我们采用哪种策略。</a:t>
            </a:r>
          </a:p>
          <a:p>
            <a:pPr algn="l" marL="0" indent="0">
              <a:lnSpc>
                <a:spcPct val="100000"/>
              </a:lnSpc>
            </a:pPr>
            <a:r>
              <a:rPr lang="en-US" b="false" i="false" strike="noStrike" u="none" sz="1400">
                <a:solidFill>
                  <a:srgbClr val="000000"/>
                </a:solidFill>
              </a:rPr>
              <a:t>我们有三种主要策略：</a:t>
            </a:r>
          </a:p>
          <a:p>
            <a:pPr algn="l" marL="0" indent="0">
              <a:lnSpc>
                <a:spcPct val="100000"/>
              </a:lnSpc>
            </a:pPr>
            <a:r>
              <a:rPr lang="en-US" b="false" i="false" strike="noStrike" u="none" sz="1400">
                <a:solidFill>
                  <a:srgbClr val="000000"/>
                </a:solidFill>
              </a:rPr>
              <a:t>第一种是 REUSE_ALL，当空洞率很低的时候，我们直接复用现有的 LOB 文件，只改引用，这是最快的。</a:t>
            </a:r>
          </a:p>
          <a:p>
            <a:pPr algn="l" marL="0" indent="0">
              <a:lnSpc>
                <a:spcPct val="100000"/>
              </a:lnSpc>
            </a:pPr>
            <a:r>
              <a:rPr lang="en-US" b="false" i="false" strike="noStrike" u="none" sz="1400">
                <a:solidFill>
                  <a:srgbClr val="000000"/>
                </a:solidFill>
              </a:rPr>
              <a:t>第二种是 REWRITE_ALL，当空洞率很高，意味着文件里有很多无效数据，这时候我们会把有效数据提取出来，写到一个全新的文件里，虽然费点 IO，但能节省空间。</a:t>
            </a:r>
          </a:p>
          <a:p>
            <a:pPr algn="l" marL="0" indent="0">
              <a:lnSpc>
                <a:spcPct val="100000"/>
              </a:lnSpc>
            </a:pPr>
            <a:r>
              <a:rPr lang="en-US" b="false" i="false" strike="noStrike" u="none" sz="1400">
                <a:solidFill>
                  <a:srgbClr val="000000"/>
                </a:solidFill>
              </a:rPr>
              <a:t>第三种是 SKIP，这主要用于 L0 层，它只负责清理被删除的数据，不做任何移动，效率极高。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 Read Path 的实现机制。</a:t>
            </a:r>
          </a:p>
          <a:p>
            <a:pPr algn="l" marL="0" indent="0">
              <a:lnSpc>
                <a:spcPct val="100000"/>
              </a:lnSpc>
            </a:pPr>
            <a:r>
              <a:rPr lang="en-US" b="false" i="false" strike="noStrike" u="none" sz="1400">
                <a:solidFill>
                  <a:srgbClr val="000000"/>
                </a:solidFill>
              </a:rPr>
              <a:t>左侧的伪代码展示了核心的读取逻辑：系统首先会检查数据是否以内联形式存在，如果是，则直接返回内存中的数据，这是性能最高的情况。如果数据存储在外部 LOB 文件中，系统会解析出文件 ID 和偏移量，然后从对应的文件中读取。</a:t>
            </a:r>
          </a:p>
          <a:p>
            <a:pPr algn="l" marL="0" indent="0">
              <a:lnSpc>
                <a:spcPct val="100000"/>
              </a:lnSpc>
            </a:pPr>
            <a:r>
              <a:rPr lang="en-US" b="false" i="false" strike="noStrike" u="none" sz="1400">
                <a:solidFill>
                  <a:srgbClr val="000000"/>
                </a:solidFill>
              </a:rPr>
              <a:t>这里有两个关键的优化点：</a:t>
            </a:r>
          </a:p>
          <a:p>
            <a:pPr algn="l" marL="0" indent="0">
              <a:lnSpc>
                <a:spcPct val="100000"/>
              </a:lnSpc>
            </a:pPr>
            <a:r>
              <a:rPr lang="en-US" b="false" i="false" strike="noStrike" u="none" sz="1400">
                <a:solidFill>
                  <a:srgbClr val="000000"/>
                </a:solidFill>
              </a:rPr>
              <a:t>第一是资源复用。我们不是为每一行数据都创建一个新的 Reader，而是按文件 ID 进行分组，复用已有的 Reader 实例，这避免了频繁的文件打开和关闭操作，这在高并发场景下能显著降低系统开销。</a:t>
            </a:r>
          </a:p>
          <a:p>
            <a:pPr algn="l" marL="0" indent="0">
              <a:lnSpc>
                <a:spcPct val="100000"/>
              </a:lnSpc>
            </a:pPr>
            <a:r>
              <a:rPr lang="en-US" b="false" i="false" strike="noStrike" u="none" sz="1400">
                <a:solidFill>
                  <a:srgbClr val="000000"/>
                </a:solidFill>
              </a:rPr>
              <a:t>第二是对查询层的透明性。对于 SQL 查询来说，无论是内联存储还是外部存储，用户看到的都是一个普通的 TEXT 字段，不需要做任何特殊的语法处理。这种设计极大地降低了开发的复杂度。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这一页我们从用户的视角来看，在向量数据库中，TEXT 字段依然保持着它作为“普通字段”的易用性。</a:t>
            </a:r>
          </a:p>
          <a:p>
            <a:pPr algn="l" marL="0" indent="0">
              <a:lnSpc>
                <a:spcPct val="100000"/>
              </a:lnSpc>
            </a:pPr>
            <a:r>
              <a:rPr lang="en-US" b="false" i="false" strike="noStrike" u="none" sz="1400">
                <a:solidFill>
                  <a:srgbClr val="000000"/>
                </a:solidFill>
              </a:rPr>
              <a:t>首先，它最基础的功能就是存储与返回。你只需要像定义普通数据库字段一样定义它，插入数据后，就能直接通过查询返回文本内容，非常直观。</a:t>
            </a:r>
          </a:p>
          <a:p>
            <a:pPr algn="l" marL="0" indent="0">
              <a:lnSpc>
                <a:spcPct val="100000"/>
              </a:lnSpc>
            </a:pPr>
            <a:r>
              <a:rPr lang="en-US" b="false" i="false" strike="noStrike" u="none" sz="1400">
                <a:solidFill>
                  <a:srgbClr val="000000"/>
                </a:solidFill>
              </a:rPr>
              <a:t>其次，我们提供了 text_match 函数，用于进行精确的文本过滤。这对于需要快速筛选包含特定关键词的文档非常有用。</a:t>
            </a:r>
          </a:p>
          <a:p>
            <a:pPr algn="l" marL="0" indent="0">
              <a:lnSpc>
                <a:spcPct val="100000"/>
              </a:lnSpc>
            </a:pPr>
            <a:r>
              <a:rPr lang="en-US" b="false" i="false" strike="noStrike" u="none" sz="1400">
                <a:solidFill>
                  <a:srgbClr val="000000"/>
                </a:solidFill>
              </a:rPr>
              <a:t>最后，如果你需要更高级的全文检索能力，可以结合 BM25 算法。通过简单的参数配置，系统会自动将文本转换为稀疏向量，并基于 BM25 算法进行相关性排序，实现高效的全文搜索。</a:t>
            </a:r>
          </a:p>
          <a:p>
            <a:pPr algn="l" marL="0" indent="0">
              <a:lnSpc>
                <a:spcPct val="100000"/>
              </a:lnSpc>
            </a:pPr>
            <a:r>
              <a:rPr lang="en-US" b="false" i="false" strike="noStrike" u="none" sz="1400">
                <a:solidFill>
                  <a:srgbClr val="000000"/>
                </a:solidFill>
              </a:rPr>
              <a:t>最重要的是，大家要明白，我们管理的是标准的 TEXT 字段，而不是传统数据库中难以处理的大对象文件，这大大降低了使用门槛和维护复杂度。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这一页我们来深入了解一下如何安全地删除这些孤儿文件。</a:t>
            </a:r>
          </a:p>
          <a:p>
            <a:pPr algn="l" marL="0" indent="0">
              <a:lnSpc>
                <a:spcPct val="100000"/>
              </a:lnSpc>
            </a:pPr>
            <a:r>
              <a:rPr lang="en-US" b="false" i="false" strike="noStrike" u="none" sz="1400">
                <a:solidFill>
                  <a:srgbClr val="000000"/>
                </a:solidFill>
              </a:rPr>
              <a:t>首先，我们要明确为什么会产生孤儿文件。在写入流程中，为了性能考虑，我们是先把LOB数据写入对象存储，然后再去更新Manifest元数据。如果在这两步之间，比如进程崩溃了，那么这些已经写进去的数据就没有了“户口”，成了孤儿文件。</a:t>
            </a:r>
          </a:p>
          <a:p>
            <a:pPr algn="l" marL="0" indent="0">
              <a:lnSpc>
                <a:spcPct val="100000"/>
              </a:lnSpc>
            </a:pPr>
            <a:r>
              <a:rPr lang="en-US" b="false" i="false" strike="noStrike" u="none" sz="1400">
                <a:solidFill>
                  <a:srgbClr val="000000"/>
                </a:solidFill>
              </a:rPr>
              <a:t>那么DataCoord是怎么清理这些文件的呢？它分为四个关键步骤：</a:t>
            </a:r>
          </a:p>
          <a:p>
            <a:pPr algn="l" marL="0" indent="0">
              <a:lnSpc>
                <a:spcPct val="100000"/>
              </a:lnSpc>
            </a:pPr>
            <a:r>
              <a:rPr lang="en-US" b="false" i="false" strike="noStrike" u="none" sz="1400">
                <a:solidFill>
                  <a:srgbClr val="000000"/>
                </a:solidFill>
              </a:rPr>
              <a:t>第一步，扫描所有有效的元数据，包括Segment Manifest和Binlog，这是为了找到所有“活着”的文件。</a:t>
            </a:r>
          </a:p>
          <a:p>
            <a:pPr algn="l" marL="0" indent="0">
              <a:lnSpc>
                <a:spcPct val="100000"/>
              </a:lnSpc>
            </a:pPr>
            <a:r>
              <a:rPr lang="en-US" b="false" i="false" strike="noStrike" u="none" sz="1400">
                <a:solidFill>
                  <a:srgbClr val="000000"/>
                </a:solidFill>
              </a:rPr>
              <a:t>第二步，基于扫描结果，构建一个“白名单”，也就是所有被引用的文件ID集合。</a:t>
            </a:r>
          </a:p>
          <a:p>
            <a:pPr algn="l" marL="0" indent="0">
              <a:lnSpc>
                <a:spcPct val="100000"/>
              </a:lnSpc>
            </a:pPr>
            <a:r>
              <a:rPr lang="en-US" b="false" i="false" strike="noStrike" u="none" sz="1400">
                <a:solidFill>
                  <a:srgbClr val="000000"/>
                </a:solidFill>
              </a:rPr>
              <a:t>第三步，去对象存储里把所有实际存在的文件都列出来。</a:t>
            </a:r>
          </a:p>
          <a:p>
            <a:pPr algn="l" marL="0" indent="0">
              <a:lnSpc>
                <a:spcPct val="100000"/>
              </a:lnSpc>
            </a:pPr>
            <a:r>
              <a:rPr lang="en-US" b="false" i="false" strike="noStrike" u="none" sz="1400">
                <a:solidFill>
                  <a:srgbClr val="000000"/>
                </a:solidFill>
              </a:rPr>
              <a:t>第四步，就是对比，把不在白名单里的文件找出来。但这里有个关键，不是马上就删，而是要检查它的创建时间。</a:t>
            </a:r>
          </a:p>
          <a:p>
            <a:pPr algn="l" marL="0" indent="0">
              <a:lnSpc>
                <a:spcPct val="100000"/>
              </a:lnSpc>
            </a:pPr>
            <a:r>
              <a:rPr lang="en-US" b="false" i="false" strike="noStrike" u="none" sz="1400">
                <a:solidFill>
                  <a:srgbClr val="000000"/>
                </a:solidFill>
              </a:rPr>
              <a:t>这就引出了底部的重点——安全时间窗口。为什么需要它？因为可能有些文件正在被写入或者正在合并（compaction），它还没来得及更新元数据。如果立刻删除，就会造成数据丢失。所以我们只删除那些既不在白名单里，又已经存在了一段时间（比如几个小时）的文件，这样就给了系统足够的缓冲时间，确保万无一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这一页我们来深入探讨TEXT + LOB架构带来的根本性改变。</a:t>
            </a:r>
          </a:p>
          <a:p>
            <a:pPr algn="l" marL="0" indent="0">
              <a:lnSpc>
                <a:spcPct val="100000"/>
              </a:lnSpc>
            </a:pPr>
            <a:r>
              <a:rPr lang="en-US" b="false" i="false" strike="noStrike" u="none" sz="1400">
                <a:solidFill>
                  <a:srgbClr val="000000"/>
                </a:solidFill>
              </a:rPr>
              <a:t>首先，最核心的变革在于“剥离与兼容”。我们将庞大的文本Payload从Segment的主数据路径中移除，这不仅优化了主路径的效率，更重要的是，它保持了上层数据模型的完全兼容，这意味着业务方不需要做任何代码重构即可享受这一架构升级的红利。</a:t>
            </a:r>
          </a:p>
          <a:p>
            <a:pPr algn="l" marL="0" indent="0">
              <a:lnSpc>
                <a:spcPct val="100000"/>
              </a:lnSpc>
            </a:pPr>
            <a:r>
              <a:rPr lang="en-US" b="false" i="false" strike="noStrike" u="none" sz="1400">
                <a:solidFill>
                  <a:srgbClr val="000000"/>
                </a:solidFill>
              </a:rPr>
              <a:t>这种改变带来了三个显著的价值：</a:t>
            </a:r>
          </a:p>
          <a:p>
            <a:pPr algn="l" marL="0" indent="0">
              <a:lnSpc>
                <a:spcPct val="100000"/>
              </a:lnSpc>
            </a:pPr>
            <a:r>
              <a:rPr lang="en-US" b="false" i="false" strike="noStrike" u="none" sz="1400">
                <a:solidFill>
                  <a:srgbClr val="000000"/>
                </a:solidFill>
              </a:rPr>
              <a:t>第一是数据一致性。我们将向量、文本和元数据统一在一条记录中，这就保证了增删改查的原子性，彻底解决了过去多副本存储可能带来的数据不一致问题。</a:t>
            </a:r>
          </a:p>
          <a:p>
            <a:pPr algn="l" marL="0" indent="0">
              <a:lnSpc>
                <a:spcPct val="100000"/>
              </a:lnSpc>
            </a:pPr>
            <a:r>
              <a:rPr lang="en-US" b="false" i="false" strike="noStrike" u="none" sz="1400">
                <a:solidFill>
                  <a:srgbClr val="000000"/>
                </a:solidFill>
              </a:rPr>
              <a:t>第二是链路的极致简化。不再需要维护多套存储系统来应对混合检索的需求，一套引擎就能搞定，这极大地降低了系统的复杂度和运维成本。</a:t>
            </a:r>
          </a:p>
          <a:p>
            <a:pPr algn="l" marL="0" indent="0">
              <a:lnSpc>
                <a:spcPct val="100000"/>
              </a:lnSpc>
            </a:pPr>
            <a:r>
              <a:rPr lang="en-US" b="false" i="false" strike="noStrike" u="none" sz="1400">
                <a:solidFill>
                  <a:srgbClr val="000000"/>
                </a:solidFill>
              </a:rPr>
              <a:t>第三是成本的显著优化。长文本不再占用昂贵的内存资源，也不再拖累Compaction和I/O性能，实现了资源的更高效利用。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感谢大家的聆听。现在进入问答环节，欢迎大家提问交流。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notesSlides/notesSlide3.xml" Type="http://schemas.openxmlformats.org/officeDocument/2006/relationships/notesSlid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notesSlides/notesSlide4.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 Id="rId3" Target="../media/image47.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144000" y="-1524000"/>
            <a:ext cx="4064000" cy="4064000"/>
          </a:xfrm>
          <a:prstGeom prst="ellipse">
            <a:avLst/>
          </a:prstGeom>
          <a:solidFill>
            <a:srgbClr val="00C48C">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2032000" y="4318000"/>
            <a:ext cx="5334000" cy="5334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414000" y="1524000"/>
            <a:ext cx="1524000" cy="25400"/>
          </a:xfrm>
          <a:prstGeom prst="roundRect">
            <a:avLst>
              <a:gd name="adj" fmla="val 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922000" y="1778000"/>
            <a:ext cx="762000" cy="25400"/>
          </a:xfrm>
          <a:prstGeom prst="roundRect">
            <a:avLst>
              <a:gd name="adj" fmla="val 0"/>
            </a:avLst>
          </a:prstGeom>
          <a:solidFill>
            <a:srgbClr val="00C48C">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09600" y="609600"/>
            <a:ext cx="609600" cy="101600"/>
          </a:xfrm>
          <a:prstGeom prst="roundRect">
            <a:avLst>
              <a:gd name="adj" fmla="val 0"/>
            </a:avLst>
          </a:prstGeom>
          <a:solidFill>
            <a:srgbClr val="00C48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09600" y="2413000"/>
            <a:ext cx="109728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Milvus 3.0 原生 TEXT 与 LOB</a:t>
            </a:r>
            <a:endParaRPr lang="en-US" sz="1100"/>
          </a:p>
        </p:txBody>
      </p:sp>
      <p:sp>
        <p:nvSpPr>
          <p:cNvPr name="AutoShape 8" id="8"/>
          <p:cNvSpPr/>
          <p:nvPr/>
        </p:nvSpPr>
        <p:spPr>
          <a:xfrm rot="0" flipH="false" flipV="false">
            <a:off x="609600" y="4191000"/>
            <a:ext cx="10972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DCDEE1">
                    <a:alpha val="80000"/>
                  </a:srgbClr>
                </a:solidFill>
                <a:latin typeface="Noto Sans SC"/>
                <a:ea typeface="Noto Sans SC"/>
                <a:cs typeface="Noto Sans SC"/>
                <a:sym typeface="Noto Sans SC"/>
              </a:rPr>
              <a:t>如何高效管理原始文本</a:t>
            </a:r>
            <a:endParaRPr lang="en-US" sz="1100"/>
          </a:p>
        </p:txBody>
      </p:sp>
      <p:sp>
        <p:nvSpPr>
          <p:cNvPr name="AutoShape 9" id="9"/>
          <p:cNvSpPr/>
          <p:nvPr/>
        </p:nvSpPr>
        <p:spPr>
          <a:xfrm rot="0" flipH="false" flipV="false">
            <a:off x="609600" y="5651500"/>
            <a:ext cx="109728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40000"/>
                  </a:srgbClr>
                </a:solidFill>
                <a:latin typeface="Noto Sans SC"/>
                <a:ea typeface="Noto Sans SC"/>
                <a:cs typeface="Noto Sans SC"/>
                <a:sym typeface="Noto Sans SC"/>
              </a:rPr>
              <a:t>技术分享会 | 2026</a:t>
            </a:r>
            <a:endParaRPr lang="en-US" sz="1100"/>
          </a:p>
        </p:txBody>
      </p:sp>
      <p:sp>
        <p:nvSpPr>
          <p:cNvPr name="AutoShape 10" id="10"/>
          <p:cNvSpPr/>
          <p:nvPr/>
        </p:nvSpPr>
        <p:spPr>
          <a:xfrm rot="0" flipH="false" flipV="false">
            <a:off x="11506200" y="6159500"/>
            <a:ext cx="76200" cy="76200"/>
          </a:xfrm>
          <a:prstGeom prst="roundRect">
            <a:avLst>
              <a:gd name="adj" fmla="val 0"/>
            </a:avLst>
          </a:prstGeom>
          <a:solidFill>
            <a:srgbClr val="00C48C">
              <a:alpha val="6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3810000"/>
            <a:ext cx="5080000" cy="5080000"/>
          </a:xfrm>
          <a:prstGeom prst="ellipse">
            <a:avLst/>
          </a:prstGeom>
          <a:solidFill>
            <a:srgbClr val="00C48C">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3810000" cy="3810000"/>
          </a:xfrm>
          <a:prstGeom prst="ellipse">
            <a:avLst/>
          </a:prstGeom>
          <a:solidFill>
            <a:srgbClr val="00C48C">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58800"/>
            <a:ext cx="76200" cy="406400"/>
          </a:xfrm>
          <a:prstGeom prst="roundRect">
            <a:avLst>
              <a:gd name="adj" fmla="val 0"/>
            </a:avLst>
          </a:prstGeom>
          <a:solidFill>
            <a:srgbClr val="00C48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5080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目录</a:t>
            </a:r>
            <a:endParaRPr lang="en-US" sz="1100"/>
          </a:p>
        </p:txBody>
      </p:sp>
      <p:sp>
        <p:nvSpPr>
          <p:cNvPr name="AutoShape 6" id="6"/>
          <p:cNvSpPr/>
          <p:nvPr/>
        </p:nvSpPr>
        <p:spPr>
          <a:xfrm rot="0" flipH="false" flipV="false">
            <a:off x="508000" y="1524000"/>
            <a:ext cx="11176000" cy="889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1714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00C48C"/>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1651000" y="16256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背景与痛点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50196"/>
                  </a:srgbClr>
                </a:solidFill>
                <a:latin typeface="Noto Sans SC"/>
                <a:ea typeface="Noto Sans SC"/>
                <a:cs typeface="Noto Sans SC"/>
                <a:sym typeface="Noto Sans SC"/>
              </a:rPr>
              <a:t>深入剖析当前系统面临的存储瓶颈与业务挑战，理解架构升级的核心驱动力与必要性。</a:t>
            </a:r>
          </a:p>
        </p:txBody>
      </p:sp>
      <p:sp>
        <p:nvSpPr>
          <p:cNvPr name="AutoShape 9" id="9"/>
          <p:cNvSpPr/>
          <p:nvPr/>
        </p:nvSpPr>
        <p:spPr>
          <a:xfrm rot="0" flipH="false" flipV="false">
            <a:off x="508000" y="2540000"/>
            <a:ext cx="11176000" cy="889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98500" y="2730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00C48C"/>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1651000" y="26416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TEXT ≠ 大 VARCHAR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50196"/>
                  </a:srgbClr>
                </a:solidFill>
                <a:latin typeface="Noto Sans SC"/>
                <a:ea typeface="Noto Sans SC"/>
                <a:cs typeface="Noto Sans SC"/>
                <a:sym typeface="Noto Sans SC"/>
              </a:rPr>
              <a:t>打破传统数据库的认知误区，解析文本类型在现代存储引擎中的本质区别、存储特性与性能影响。</a:t>
            </a:r>
          </a:p>
        </p:txBody>
      </p:sp>
      <p:sp>
        <p:nvSpPr>
          <p:cNvPr name="AutoShape 12" id="12"/>
          <p:cNvSpPr/>
          <p:nvPr/>
        </p:nvSpPr>
        <p:spPr>
          <a:xfrm rot="0" flipH="false" flipV="false">
            <a:off x="508000" y="3556000"/>
            <a:ext cx="11176000" cy="889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98500" y="3746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00C48C"/>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1651000" y="36576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混合存储架构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50196"/>
                  </a:srgbClr>
                </a:solidFill>
                <a:latin typeface="Noto Sans SC"/>
                <a:ea typeface="Noto Sans SC"/>
                <a:cs typeface="Noto Sans SC"/>
                <a:sym typeface="Noto Sans SC"/>
              </a:rPr>
              <a:t>详解分层存储的设计理念，结合内存、SSD与HDD的介质优势，构建高性能、高性价比的存储体系。</a:t>
            </a:r>
          </a:p>
        </p:txBody>
      </p:sp>
      <p:sp>
        <p:nvSpPr>
          <p:cNvPr name="AutoShape 15" id="15"/>
          <p:cNvSpPr/>
          <p:nvPr/>
        </p:nvSpPr>
        <p:spPr>
          <a:xfrm rot="0" flipH="false" flipV="false">
            <a:off x="508000" y="4572000"/>
            <a:ext cx="11176000" cy="889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98500" y="4762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00C48C"/>
                </a:solidFill>
                <a:latin typeface="Noto Sans SC"/>
                <a:ea typeface="Noto Sans SC"/>
                <a:cs typeface="Noto Sans SC"/>
                <a:sym typeface="Noto Sans SC"/>
              </a:rPr>
              <a:t>04</a:t>
            </a:r>
            <a:endParaRPr lang="en-US" sz="1100"/>
          </a:p>
        </p:txBody>
      </p:sp>
      <p:sp>
        <p:nvSpPr>
          <p:cNvPr name="AutoShape 17" id="17"/>
          <p:cNvSpPr/>
          <p:nvPr/>
        </p:nvSpPr>
        <p:spPr>
          <a:xfrm rot="0" flipH="false" flipV="false">
            <a:off x="1651000" y="46736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核心机制（Compaction / Read / GC）</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50196"/>
                  </a:srgbClr>
                </a:solidFill>
                <a:latin typeface="Noto Sans SC"/>
                <a:ea typeface="Noto Sans SC"/>
                <a:cs typeface="Noto Sans SC"/>
                <a:sym typeface="Noto Sans SC"/>
              </a:rPr>
              <a:t>深度拆解系统的三大核心引擎：数据合并策略、多版本读取优化与分布式垃圾回收的底层运行逻辑。</a:t>
            </a:r>
          </a:p>
        </p:txBody>
      </p:sp>
      <p:sp>
        <p:nvSpPr>
          <p:cNvPr name="AutoShape 18" id="18"/>
          <p:cNvSpPr/>
          <p:nvPr/>
        </p:nvSpPr>
        <p:spPr>
          <a:xfrm rot="0" flipH="false" flipV="false">
            <a:off x="508000" y="5588000"/>
            <a:ext cx="11176000" cy="889000"/>
          </a:xfrm>
          <a:prstGeom prst="roundRect">
            <a:avLst>
              <a:gd name="adj" fmla="val 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98500" y="577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00C48C"/>
                </a:solidFill>
                <a:latin typeface="Noto Sans SC"/>
                <a:ea typeface="Noto Sans SC"/>
                <a:cs typeface="Noto Sans SC"/>
                <a:sym typeface="Noto Sans SC"/>
              </a:rPr>
              <a:t>05</a:t>
            </a:r>
            <a:endParaRPr lang="en-US" sz="1100"/>
          </a:p>
        </p:txBody>
      </p:sp>
      <p:sp>
        <p:nvSpPr>
          <p:cNvPr name="AutoShape 20" id="20"/>
          <p:cNvSpPr/>
          <p:nvPr/>
        </p:nvSpPr>
        <p:spPr>
          <a:xfrm rot="0" flipH="false" flipV="false">
            <a:off x="1651000" y="56896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FFFFFF"/>
                </a:solidFill>
                <a:latin typeface="Noto Sans SC"/>
                <a:ea typeface="Noto Sans SC"/>
                <a:cs typeface="Noto Sans SC"/>
                <a:sym typeface="Noto Sans SC"/>
              </a:rPr>
              <a:t>用户视角与总结</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FFFFFF">
                    <a:alpha val="50196"/>
                  </a:srgbClr>
                </a:solidFill>
                <a:latin typeface="Noto Sans SC"/>
                <a:ea typeface="Noto Sans SC"/>
                <a:cs typeface="Noto Sans SC"/>
                <a:sym typeface="Noto Sans SC"/>
              </a:rPr>
              <a:t>从实际业务场景出发，总结架构设计的核心价值，探讨未来技术演进方向与最佳实践建议。</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905000"/>
            <a:ext cx="5080000" cy="508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71500"/>
            <a:ext cx="762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5715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为什么需要原始文本？</a:t>
            </a:r>
            <a:endParaRPr lang="en-US" sz="1100"/>
          </a:p>
        </p:txBody>
      </p:sp>
      <p:sp>
        <p:nvSpPr>
          <p:cNvPr name="AutoShape 6" id="6"/>
          <p:cNvSpPr/>
          <p:nvPr/>
        </p:nvSpPr>
        <p:spPr>
          <a:xfrm rot="0" flipH="false" flipV="false">
            <a:off x="508000" y="1778000"/>
            <a:ext cx="4826000" cy="36195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2032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0B981"/>
                </a:solidFill>
                <a:latin typeface="Noto Sans SC"/>
                <a:ea typeface="Noto Sans SC"/>
                <a:cs typeface="Noto Sans SC"/>
                <a:sym typeface="Noto Sans SC"/>
              </a:rPr>
              <a:t>01. Embedding 仅解决“语义召回”</a:t>
            </a:r>
            <a:endParaRPr lang="en-US" sz="1100"/>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794000"/>
            <a:ext cx="609600" cy="609600"/>
          </a:xfrm>
          <a:prstGeom prst="rect">
            <a:avLst/>
          </a:prstGeom>
        </p:spPr>
      </p:pic>
      <p:sp>
        <p:nvSpPr>
          <p:cNvPr name="AutoShape 9" id="9"/>
          <p:cNvSpPr/>
          <p:nvPr/>
        </p:nvSpPr>
        <p:spPr>
          <a:xfrm rot="0" flipH="false" flipV="false">
            <a:off x="1460500" y="2794000"/>
            <a:ext cx="38735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D1D5DB"/>
                </a:solidFill>
                <a:latin typeface="Noto Sans SC"/>
                <a:ea typeface="Noto Sans SC"/>
                <a:cs typeface="Noto Sans SC"/>
                <a:sym typeface="Noto Sans SC"/>
              </a:rPr>
              <a:t>Embedding 将非结构化文本转化为高维向量，是实现 </a:t>
            </a:r>
            <a:r>
              <a:rPr lang="en-US" b="true" i="false" strike="noStrike" u="none" sz="1400">
                <a:solidFill>
                  <a:srgbClr val="10B981"/>
                </a:solidFill>
                <a:latin typeface="Noto Sans SC"/>
                <a:ea typeface="Noto Sans SC"/>
                <a:cs typeface="Noto Sans SC"/>
                <a:sym typeface="Noto Sans SC"/>
              </a:rPr>
              <a:t>语义相似度匹配</a:t>
            </a:r>
            <a:r>
              <a:rPr lang="en-US" b="false" i="false" strike="noStrike" u="none" sz="1400">
                <a:solidFill>
                  <a:srgbClr val="D1D5DB"/>
                </a:solidFill>
                <a:latin typeface="Noto Sans SC"/>
                <a:ea typeface="Noto Sans SC"/>
                <a:cs typeface="Noto Sans SC"/>
                <a:sym typeface="Noto Sans SC"/>
              </a:rPr>
              <a:t> 的核心技术。它能快速从海量数据中召回与用户查询意图相近的内容，完成“初步筛选”。</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9CA3AF"/>
                </a:solidFill>
                <a:latin typeface="Noto Sans SC"/>
                <a:ea typeface="Noto Sans SC"/>
                <a:cs typeface="Noto Sans SC"/>
                <a:sym typeface="Noto Sans SC"/>
              </a:rPr>
              <a:t>但它仅解决了“像不像”的问题，无法独立支撑检索系统的全流程体验与准确性要求。</a:t>
            </a:r>
          </a:p>
        </p:txBody>
      </p:sp>
      <p:sp>
        <p:nvSpPr>
          <p:cNvPr name="AutoShape 10" id="10"/>
          <p:cNvSpPr/>
          <p:nvPr/>
        </p:nvSpPr>
        <p:spPr>
          <a:xfrm rot="0" flipH="false" flipV="false">
            <a:off x="5588000" y="1778000"/>
            <a:ext cx="609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0B981"/>
                </a:solidFill>
                <a:latin typeface="Noto Sans SC"/>
                <a:ea typeface="Noto Sans SC"/>
                <a:cs typeface="Noto Sans SC"/>
                <a:sym typeface="Noto Sans SC"/>
              </a:rPr>
              <a:t>02. 全链路价值：原始文本的五大关键角色</a:t>
            </a:r>
            <a:endParaRPr lang="en-US" sz="1100"/>
          </a:p>
        </p:txBody>
      </p:sp>
      <p:sp>
        <p:nvSpPr>
          <p:cNvPr name="AutoShape 11" id="11"/>
          <p:cNvSpPr/>
          <p:nvPr/>
        </p:nvSpPr>
        <p:spPr>
          <a:xfrm rot="0" flipH="false" flipV="false">
            <a:off x="5588000" y="2540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40400" y="2692400"/>
            <a:ext cx="279400" cy="279400"/>
          </a:xfrm>
          <a:prstGeom prst="rect">
            <a:avLst/>
          </a:prstGeom>
        </p:spPr>
      </p:pic>
      <p:sp>
        <p:nvSpPr>
          <p:cNvPr name="AutoShape 13" id="13"/>
          <p:cNvSpPr/>
          <p:nvPr/>
        </p:nvSpPr>
        <p:spPr>
          <a:xfrm rot="0" flipH="false" flipV="false">
            <a:off x="6070600" y="2692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词法兜底检索</a:t>
            </a:r>
            <a:endParaRPr lang="en-US" sz="1100"/>
          </a:p>
        </p:txBody>
      </p:sp>
      <p:sp>
        <p:nvSpPr>
          <p:cNvPr name="AutoShape 14" id="14"/>
          <p:cNvSpPr/>
          <p:nvPr/>
        </p:nvSpPr>
        <p:spPr>
          <a:xfrm rot="0" flipH="false" flipV="false">
            <a:off x="5740400" y="3111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基于BM25实现关键词精确匹配，弥补Embedding在专有名词、冷僻词上的召回盲区。</a:t>
            </a:r>
            <a:endParaRPr lang="en-US" sz="1100"/>
          </a:p>
        </p:txBody>
      </p:sp>
      <p:sp>
        <p:nvSpPr>
          <p:cNvPr name="AutoShape 15" id="15"/>
          <p:cNvSpPr/>
          <p:nvPr/>
        </p:nvSpPr>
        <p:spPr>
          <a:xfrm rot="0" flipH="false" flipV="false">
            <a:off x="7645400" y="2540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797800" y="2692400"/>
            <a:ext cx="279400" cy="279400"/>
          </a:xfrm>
          <a:prstGeom prst="rect">
            <a:avLst/>
          </a:prstGeom>
        </p:spPr>
      </p:pic>
      <p:sp>
        <p:nvSpPr>
          <p:cNvPr name="AutoShape 17" id="17"/>
          <p:cNvSpPr/>
          <p:nvPr/>
        </p:nvSpPr>
        <p:spPr>
          <a:xfrm rot="0" flipH="false" flipV="false">
            <a:off x="8128000" y="2692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结果重排序</a:t>
            </a:r>
            <a:endParaRPr lang="en-US" sz="1100"/>
          </a:p>
        </p:txBody>
      </p:sp>
      <p:sp>
        <p:nvSpPr>
          <p:cNvPr name="AutoShape 18" id="18"/>
          <p:cNvSpPr/>
          <p:nvPr/>
        </p:nvSpPr>
        <p:spPr>
          <a:xfrm rot="0" flipH="false" flipV="false">
            <a:off x="7797800" y="3111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利用原文的词频、位置等特征对召回结果二次打分，大幅提升Top-N结果的准确率。</a:t>
            </a:r>
            <a:endParaRPr lang="en-US" sz="1100"/>
          </a:p>
        </p:txBody>
      </p:sp>
      <p:sp>
        <p:nvSpPr>
          <p:cNvPr name="AutoShape 19" id="19"/>
          <p:cNvSpPr/>
          <p:nvPr/>
        </p:nvSpPr>
        <p:spPr>
          <a:xfrm rot="0" flipH="false" flipV="false">
            <a:off x="9715500" y="2540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867900" y="2692400"/>
            <a:ext cx="279400" cy="279400"/>
          </a:xfrm>
          <a:prstGeom prst="rect">
            <a:avLst/>
          </a:prstGeom>
        </p:spPr>
      </p:pic>
      <p:sp>
        <p:nvSpPr>
          <p:cNvPr name="AutoShape 21" id="21"/>
          <p:cNvSpPr/>
          <p:nvPr/>
        </p:nvSpPr>
        <p:spPr>
          <a:xfrm rot="0" flipH="false" flipV="false">
            <a:off x="10198100" y="2692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生成事实依据</a:t>
            </a:r>
            <a:endParaRPr lang="en-US" sz="1100"/>
          </a:p>
        </p:txBody>
      </p:sp>
      <p:sp>
        <p:nvSpPr>
          <p:cNvPr name="AutoShape 22" id="22"/>
          <p:cNvSpPr/>
          <p:nvPr/>
        </p:nvSpPr>
        <p:spPr>
          <a:xfrm rot="0" flipH="false" flipV="false">
            <a:off x="9867900" y="3111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作为大模型生成回答的“上下文锚点”，防止模型产生幻觉，确保输出内容真实可信。</a:t>
            </a:r>
            <a:endParaRPr lang="en-US" sz="1100"/>
          </a:p>
        </p:txBody>
      </p:sp>
      <p:sp>
        <p:nvSpPr>
          <p:cNvPr name="AutoShape 23" id="23"/>
          <p:cNvSpPr/>
          <p:nvPr/>
        </p:nvSpPr>
        <p:spPr>
          <a:xfrm rot="0" flipH="false" flipV="false">
            <a:off x="5588000" y="4191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740400" y="4343400"/>
            <a:ext cx="279400" cy="279400"/>
          </a:xfrm>
          <a:prstGeom prst="rect">
            <a:avLst/>
          </a:prstGeom>
        </p:spPr>
      </p:pic>
      <p:sp>
        <p:nvSpPr>
          <p:cNvPr name="AutoShape 25" id="25"/>
          <p:cNvSpPr/>
          <p:nvPr/>
        </p:nvSpPr>
        <p:spPr>
          <a:xfrm rot="0" flipH="false" flipV="false">
            <a:off x="6070600" y="4343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匹配片段高亮</a:t>
            </a:r>
            <a:endParaRPr lang="en-US" sz="1100"/>
          </a:p>
        </p:txBody>
      </p:sp>
      <p:sp>
        <p:nvSpPr>
          <p:cNvPr name="AutoShape 26" id="26"/>
          <p:cNvSpPr/>
          <p:nvPr/>
        </p:nvSpPr>
        <p:spPr>
          <a:xfrm rot="0" flipH="false" flipV="false">
            <a:off x="5740400" y="4762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定位原文中与查询最相关的具体句子或段落，让用户直观理解匹配逻辑与来源。</a:t>
            </a:r>
            <a:endParaRPr lang="en-US" sz="1100"/>
          </a:p>
        </p:txBody>
      </p:sp>
      <p:sp>
        <p:nvSpPr>
          <p:cNvPr name="AutoShape 27" id="27"/>
          <p:cNvSpPr/>
          <p:nvPr/>
        </p:nvSpPr>
        <p:spPr>
          <a:xfrm rot="0" flipH="false" flipV="false">
            <a:off x="7645400" y="4191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797800" y="4343400"/>
            <a:ext cx="279400" cy="279400"/>
          </a:xfrm>
          <a:prstGeom prst="rect">
            <a:avLst/>
          </a:prstGeom>
        </p:spPr>
      </p:pic>
      <p:sp>
        <p:nvSpPr>
          <p:cNvPr name="AutoShape 29" id="29"/>
          <p:cNvSpPr/>
          <p:nvPr/>
        </p:nvSpPr>
        <p:spPr>
          <a:xfrm rot="0" flipH="false" flipV="false">
            <a:off x="8128000" y="4343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合规与可追溯</a:t>
            </a:r>
            <a:endParaRPr lang="en-US" sz="1100"/>
          </a:p>
        </p:txBody>
      </p:sp>
      <p:sp>
        <p:nvSpPr>
          <p:cNvPr name="AutoShape 30" id="30"/>
          <p:cNvSpPr/>
          <p:nvPr/>
        </p:nvSpPr>
        <p:spPr>
          <a:xfrm rot="0" flipH="false" flipV="false">
            <a:off x="7797800" y="4762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完整保留数据来源，满足金融、政务等敏感场景的审计要求，确保检索结果可解释。</a:t>
            </a:r>
            <a:endParaRPr lang="en-US" sz="1100"/>
          </a:p>
        </p:txBody>
      </p:sp>
      <p:sp>
        <p:nvSpPr>
          <p:cNvPr name="AutoShape 31" id="31"/>
          <p:cNvSpPr/>
          <p:nvPr/>
        </p:nvSpPr>
        <p:spPr>
          <a:xfrm rot="0" flipH="false" flipV="false">
            <a:off x="9715500" y="4191000"/>
            <a:ext cx="1968500" cy="1460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867900" y="4343400"/>
            <a:ext cx="279400" cy="279400"/>
          </a:xfrm>
          <a:prstGeom prst="rect">
            <a:avLst/>
          </a:prstGeom>
        </p:spPr>
      </p:pic>
      <p:sp>
        <p:nvSpPr>
          <p:cNvPr name="AutoShape 33" id="33"/>
          <p:cNvSpPr/>
          <p:nvPr/>
        </p:nvSpPr>
        <p:spPr>
          <a:xfrm rot="0" flipH="false" flipV="false">
            <a:off x="10198100" y="4343400"/>
            <a:ext cx="152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3F4F6"/>
                </a:solidFill>
                <a:latin typeface="Noto Sans SC"/>
                <a:ea typeface="Noto Sans SC"/>
                <a:cs typeface="Noto Sans SC"/>
                <a:sym typeface="Noto Sans SC"/>
              </a:rPr>
              <a:t>多模态关联</a:t>
            </a:r>
            <a:endParaRPr lang="en-US" sz="1100"/>
          </a:p>
        </p:txBody>
      </p:sp>
      <p:sp>
        <p:nvSpPr>
          <p:cNvPr name="AutoShape 34" id="34"/>
          <p:cNvSpPr/>
          <p:nvPr/>
        </p:nvSpPr>
        <p:spPr>
          <a:xfrm rot="0" flipH="false" flipV="false">
            <a:off x="9867900" y="4762500"/>
            <a:ext cx="171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9CA3AF"/>
                </a:solidFill>
                <a:latin typeface="Noto Sans SC"/>
                <a:ea typeface="Noto Sans SC"/>
                <a:cs typeface="Noto Sans SC"/>
                <a:sym typeface="Noto Sans SC"/>
              </a:rPr>
              <a:t>承载图片、表格等非文本信息的描述与索引，是构建多模态检索系统的基础载体。</a:t>
            </a:r>
            <a:endParaRPr lang="en-US" sz="1100"/>
          </a:p>
        </p:txBody>
      </p:sp>
      <p:sp>
        <p:nvSpPr>
          <p:cNvPr name="AutoShape 35" id="35"/>
          <p:cNvSpPr/>
          <p:nvPr/>
        </p:nvSpPr>
        <p:spPr>
          <a:xfrm rot="0" flipH="false" flipV="false">
            <a:off x="508000" y="5842000"/>
            <a:ext cx="11176000" cy="635000"/>
          </a:xfrm>
          <a:prstGeom prst="roundRect">
            <a:avLst>
              <a:gd name="adj" fmla="val 0"/>
            </a:avLst>
          </a:prstGeom>
          <a:solidFill>
            <a:srgbClr val="10B981">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35000" y="5994400"/>
            <a:ext cx="1092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E5E7EB"/>
                </a:solidFill>
                <a:latin typeface="Noto Sans SC"/>
                <a:ea typeface="Noto Sans SC"/>
                <a:cs typeface="Noto Sans SC"/>
                <a:sym typeface="Noto Sans SC"/>
              </a:rPr>
              <a:t>总结：原始文本是构建 </a:t>
            </a:r>
            <a:r>
              <a:rPr lang="en-US" b="true" i="false" strike="noStrike" u="none" sz="1600">
                <a:solidFill>
                  <a:srgbClr val="34D399"/>
                </a:solidFill>
                <a:latin typeface="Noto Sans SC"/>
                <a:ea typeface="Noto Sans SC"/>
                <a:cs typeface="Noto Sans SC"/>
                <a:sym typeface="Noto Sans SC"/>
              </a:rPr>
              <a:t>高精度、可解释、合规化</a:t>
            </a:r>
            <a:r>
              <a:rPr lang="en-US" b="false" i="false" strike="noStrike" u="none" sz="1600">
                <a:solidFill>
                  <a:srgbClr val="E5E7EB"/>
                </a:solidFill>
                <a:latin typeface="Noto Sans SC"/>
                <a:ea typeface="Noto Sans SC"/>
                <a:cs typeface="Noto Sans SC"/>
                <a:sym typeface="Noto Sans SC"/>
              </a:rPr>
              <a:t> 现代检索系统的 </a:t>
            </a:r>
            <a:r>
              <a:rPr lang="en-US" b="true" i="false" strike="noStrike" u="none" sz="1600">
                <a:solidFill>
                  <a:srgbClr val="34D399"/>
                </a:solidFill>
                <a:latin typeface="Noto Sans SC"/>
                <a:ea typeface="Noto Sans SC"/>
                <a:cs typeface="Noto Sans SC"/>
                <a:sym typeface="Noto Sans SC"/>
              </a:rPr>
              <a:t>底层刚需</a:t>
            </a:r>
            <a:r>
              <a:rPr lang="en-US" b="false" i="false" strike="noStrike" u="none" sz="1600">
                <a:solidFill>
                  <a:srgbClr val="E5E7EB"/>
                </a:solidFill>
                <a:latin typeface="Noto Sans SC"/>
                <a:ea typeface="Noto Sans SC"/>
                <a:cs typeface="Noto Sans SC"/>
                <a:sym typeface="Noto Sans SC"/>
              </a:rPr>
              <a:t>，无法被向量完全替代。</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0" y="-1270000"/>
            <a:ext cx="5080000" cy="508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3810000"/>
            <a:ext cx="3810000" cy="381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71500"/>
            <a:ext cx="762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571500"/>
            <a:ext cx="1092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传统方案：向量库 + 外部存储</a:t>
            </a:r>
            <a:endParaRPr lang="en-US" sz="1100"/>
          </a:p>
        </p:txBody>
      </p:sp>
      <p:sp>
        <p:nvSpPr>
          <p:cNvPr name="AutoShape 6" id="6"/>
          <p:cNvSpPr/>
          <p:nvPr/>
        </p:nvSpPr>
        <p:spPr>
          <a:xfrm rot="0" flipH="false" flipV="false">
            <a:off x="508000" y="1651000"/>
            <a:ext cx="5207000" cy="1905000"/>
          </a:xfrm>
          <a:prstGeom prst="roundRect">
            <a:avLst>
              <a:gd name="adj" fmla="val 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968500"/>
            <a:ext cx="609600" cy="609600"/>
          </a:xfrm>
          <a:prstGeom prst="rect">
            <a:avLst/>
          </a:prstGeom>
        </p:spPr>
      </p:pic>
      <p:sp>
        <p:nvSpPr>
          <p:cNvPr name="AutoShape 8" id="8"/>
          <p:cNvSpPr/>
          <p:nvPr/>
        </p:nvSpPr>
        <p:spPr>
          <a:xfrm rot="0" flipH="false" flipV="false">
            <a:off x="1524000" y="1968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5E7EB"/>
                </a:solidFill>
                <a:latin typeface="Noto Sans SC"/>
                <a:ea typeface="Noto Sans SC"/>
                <a:cs typeface="Noto Sans SC"/>
                <a:sym typeface="Noto Sans SC"/>
              </a:rPr>
              <a:t>向量数据库核心层</a:t>
            </a:r>
            <a:endParaRPr lang="en-US" sz="1100"/>
          </a:p>
        </p:txBody>
      </p:sp>
      <p:sp>
        <p:nvSpPr>
          <p:cNvPr name="AutoShape 9" id="9"/>
          <p:cNvSpPr/>
          <p:nvPr/>
        </p:nvSpPr>
        <p:spPr>
          <a:xfrm rot="0" flipH="false" flipV="false">
            <a:off x="762000" y="2667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alpha val="70196"/>
                  </a:srgbClr>
                </a:solidFill>
                <a:latin typeface="Noto Sans SC"/>
                <a:ea typeface="Noto Sans SC"/>
                <a:cs typeface="Noto Sans SC"/>
                <a:sym typeface="Noto Sans SC"/>
              </a:rPr>
              <a:t>专注于高维向量的相似度计算与快速检索，仅存储 Embedding 向量数据及轻量化元数据（如文档ID、标签），不保留完整的原始业务内容。</a:t>
            </a:r>
            <a:endParaRPr lang="en-US" sz="1100"/>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92800" y="2400300"/>
            <a:ext cx="406400" cy="406400"/>
          </a:xfrm>
          <a:prstGeom prst="rect">
            <a:avLst/>
          </a:prstGeom>
        </p:spPr>
      </p:pic>
      <p:sp>
        <p:nvSpPr>
          <p:cNvPr name="AutoShape 11" id="11"/>
          <p:cNvSpPr/>
          <p:nvPr/>
        </p:nvSpPr>
        <p:spPr>
          <a:xfrm rot="0" flipH="false" flipV="false">
            <a:off x="6477000" y="1651000"/>
            <a:ext cx="5207000" cy="1905000"/>
          </a:xfrm>
          <a:prstGeom prst="roundRect">
            <a:avLst>
              <a:gd name="adj" fmla="val 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31000" y="1968500"/>
            <a:ext cx="609600" cy="609600"/>
          </a:xfrm>
          <a:prstGeom prst="rect">
            <a:avLst/>
          </a:prstGeom>
        </p:spPr>
      </p:pic>
      <p:sp>
        <p:nvSpPr>
          <p:cNvPr name="AutoShape 13" id="13"/>
          <p:cNvSpPr/>
          <p:nvPr/>
        </p:nvSpPr>
        <p:spPr>
          <a:xfrm rot="0" flipH="false" flipV="false">
            <a:off x="7493000" y="1968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5E7EB"/>
                </a:solidFill>
                <a:latin typeface="Noto Sans SC"/>
                <a:ea typeface="Noto Sans SC"/>
                <a:cs typeface="Noto Sans SC"/>
                <a:sym typeface="Noto Sans SC"/>
              </a:rPr>
              <a:t>外部原始数据存储</a:t>
            </a:r>
            <a:endParaRPr lang="en-US" sz="1100"/>
          </a:p>
        </p:txBody>
      </p:sp>
      <p:sp>
        <p:nvSpPr>
          <p:cNvPr name="AutoShape 14" id="14"/>
          <p:cNvSpPr/>
          <p:nvPr/>
        </p:nvSpPr>
        <p:spPr>
          <a:xfrm rot="0" flipH="false" flipV="false">
            <a:off x="6731000" y="2667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alpha val="70196"/>
                  </a:srgbClr>
                </a:solidFill>
                <a:latin typeface="Noto Sans SC"/>
                <a:ea typeface="Noto Sans SC"/>
                <a:cs typeface="Noto Sans SC"/>
                <a:sym typeface="Noto Sans SC"/>
              </a:rPr>
              <a:t>独立存储海量非结构化数据，包括完整的文档正文、源代码、日志文件及多媒体资源。通常采用 S3、MongoDB 或 ElasticSearch 等通用存储方案。</a:t>
            </a:r>
            <a:endParaRPr lang="en-US" sz="1100"/>
          </a:p>
        </p:txBody>
      </p:sp>
      <p:sp>
        <p:nvSpPr>
          <p:cNvPr name="AutoShape 15" id="15"/>
          <p:cNvSpPr/>
          <p:nvPr/>
        </p:nvSpPr>
        <p:spPr>
          <a:xfrm rot="0" flipH="false" flipV="false">
            <a:off x="508000" y="4064000"/>
            <a:ext cx="5524500" cy="2349500"/>
          </a:xfrm>
          <a:prstGeom prst="roundRect">
            <a:avLst>
              <a:gd name="adj" fmla="val 0"/>
            </a:avLst>
          </a:prstGeom>
          <a:solidFill>
            <a:srgbClr val="EF4444">
              <a:alpha val="8000"/>
            </a:srgbClr>
          </a:solidFill>
          <a:ln w="12700" cmpd="sng" cap="flat">
            <a:solidFill>
              <a:srgbClr val="EF4444">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08000" y="4064000"/>
            <a:ext cx="5524500" cy="38100"/>
          </a:xfrm>
          <a:prstGeom prst="roundRect">
            <a:avLst>
              <a:gd name="adj" fmla="val 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98500" y="4318000"/>
            <a:ext cx="304800" cy="304800"/>
          </a:xfrm>
          <a:prstGeom prst="rect">
            <a:avLst/>
          </a:prstGeom>
        </p:spPr>
      </p:pic>
      <p:sp>
        <p:nvSpPr>
          <p:cNvPr name="AutoShape 18" id="18"/>
          <p:cNvSpPr/>
          <p:nvPr/>
        </p:nvSpPr>
        <p:spPr>
          <a:xfrm rot="0" flipH="false" flipV="false">
            <a:off x="1143000" y="4318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F4444"/>
                </a:solidFill>
                <a:latin typeface="Noto Sans SC"/>
                <a:ea typeface="Noto Sans SC"/>
                <a:cs typeface="Noto Sans SC"/>
                <a:sym typeface="Noto Sans SC"/>
              </a:rPr>
              <a:t>01 数据一致性风险：分布式双写难题</a:t>
            </a:r>
            <a:endParaRPr lang="en-US" sz="1100"/>
          </a:p>
        </p:txBody>
      </p:sp>
      <p:sp>
        <p:nvSpPr>
          <p:cNvPr name="AutoShape 19" id="19"/>
          <p:cNvSpPr/>
          <p:nvPr/>
        </p:nvSpPr>
        <p:spPr>
          <a:xfrm rot="0" flipH="false" flipV="false">
            <a:off x="698500" y="4826000"/>
            <a:ext cx="5143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5E7EB">
                    <a:alpha val="80000"/>
                  </a:srgbClr>
                </a:solidFill>
                <a:latin typeface="Noto Sans SC"/>
                <a:ea typeface="Noto Sans SC"/>
                <a:cs typeface="Noto Sans SC"/>
                <a:sym typeface="Noto Sans SC"/>
              </a:rPr>
              <a:t>更新或删除操作需在两个独立系统间进行“双写”同步。在分布式高并发场景下，极易因网络延迟或节点故障导致数据写入时序不一致，出现“向量检索命中，但无法获取对应原始正文”的断裂体验，严重破坏数据完整性。</a:t>
            </a:r>
            <a:endParaRPr lang="en-US" sz="1100"/>
          </a:p>
        </p:txBody>
      </p:sp>
      <p:sp>
        <p:nvSpPr>
          <p:cNvPr name="AutoShape 20" id="20"/>
          <p:cNvSpPr/>
          <p:nvPr/>
        </p:nvSpPr>
        <p:spPr>
          <a:xfrm rot="0" flipH="false" flipV="false">
            <a:off x="6159500" y="4064000"/>
            <a:ext cx="5524500" cy="2349500"/>
          </a:xfrm>
          <a:prstGeom prst="roundRect">
            <a:avLst>
              <a:gd name="adj" fmla="val 0"/>
            </a:avLst>
          </a:prstGeom>
          <a:solidFill>
            <a:srgbClr val="F97316">
              <a:alpha val="8000"/>
            </a:srgbClr>
          </a:solidFill>
          <a:ln w="12700" cmpd="sng" cap="flat">
            <a:solidFill>
              <a:srgbClr val="F97316">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159500" y="4064000"/>
            <a:ext cx="5524500" cy="381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4318000"/>
            <a:ext cx="304800" cy="304800"/>
          </a:xfrm>
          <a:prstGeom prst="rect">
            <a:avLst/>
          </a:prstGeom>
        </p:spPr>
      </p:pic>
      <p:sp>
        <p:nvSpPr>
          <p:cNvPr name="AutoShape 23" id="23"/>
          <p:cNvSpPr/>
          <p:nvPr/>
        </p:nvSpPr>
        <p:spPr>
          <a:xfrm rot="0" flipH="false" flipV="false">
            <a:off x="6794500" y="4318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02 检索链路冗长：混合查询的原子性缺失</a:t>
            </a:r>
            <a:endParaRPr lang="en-US" sz="1100"/>
          </a:p>
        </p:txBody>
      </p:sp>
      <p:sp>
        <p:nvSpPr>
          <p:cNvPr name="AutoShape 24" id="24"/>
          <p:cNvSpPr/>
          <p:nvPr/>
        </p:nvSpPr>
        <p:spPr>
          <a:xfrm rot="0" flipH="false" flipV="false">
            <a:off x="6350000" y="4826000"/>
            <a:ext cx="5143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5E7EB">
                    <a:alpha val="80000"/>
                  </a:srgbClr>
                </a:solidFill>
                <a:latin typeface="Noto Sans SC"/>
                <a:ea typeface="Noto Sans SC"/>
                <a:cs typeface="Noto Sans SC"/>
                <a:sym typeface="Noto Sans SC"/>
              </a:rPr>
              <a:t>结合语义检索（向量相似度）与关键词过滤（BM25）时，需先从向量库召回候选集，再到外部存储进行二次过滤。跨系统的多次IO拉长了查询响应时间，且难以保证复杂组合查询的原子性，在高并发下显著增加了系统的不稳定性与延迟。</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270000"/>
            <a:ext cx="5080000" cy="5080000"/>
          </a:xfrm>
          <a:prstGeom prst="ellipse">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22C55E">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711200"/>
            <a:ext cx="76200" cy="4064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660400"/>
            <a:ext cx="1079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FFFFFF"/>
                </a:solidFill>
                <a:latin typeface="Noto Sans SC"/>
                <a:ea typeface="Noto Sans SC"/>
                <a:cs typeface="Noto Sans SC"/>
                <a:sym typeface="Noto Sans SC"/>
              </a:rPr>
              <a:t>为什么不能把 TEXT 当大 VARCHAR？</a:t>
            </a:r>
            <a:endParaRPr lang="en-US" sz="1100"/>
          </a:p>
        </p:txBody>
      </p:sp>
      <p:sp>
        <p:nvSpPr>
          <p:cNvPr name="AutoShape 6" id="6"/>
          <p:cNvSpPr/>
          <p:nvPr/>
        </p:nvSpPr>
        <p:spPr>
          <a:xfrm rot="0" flipH="false" flipV="false">
            <a:off x="508000" y="1651000"/>
            <a:ext cx="5461000" cy="20955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905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C55E"/>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1524000" y="19685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内存压力剧增</a:t>
            </a:r>
            <a:endParaRPr lang="en-US" sz="1100"/>
          </a:p>
        </p:txBody>
      </p:sp>
      <p:cxnSp>
        <p:nvCxnSpPr>
          <p:cNvPr name="Connector 9" id="9"/>
          <p:cNvCxnSpPr/>
          <p:nvPr/>
        </p:nvCxnSpPr>
        <p:spPr>
          <a:xfrm rot="-8814" flipH="false" flipV="false">
            <a:off x="762008" y="2597150"/>
            <a:ext cx="4953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0" id="10"/>
          <p:cNvSpPr/>
          <p:nvPr/>
        </p:nvSpPr>
        <p:spPr>
          <a:xfrm rot="0" flipH="false" flipV="false">
            <a:off x="762000" y="27305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A1A5B3"/>
                </a:solidFill>
                <a:latin typeface="Noto Sans SC"/>
                <a:ea typeface="Noto Sans SC"/>
                <a:cs typeface="Noto Sans SC"/>
                <a:sym typeface="Noto Sans SC"/>
              </a:rPr>
              <a:t>Growing Segment 会将数百KB甚至MB级的文本数据常驻内存，直接挤占缓存空间，导致热点数据命中率下降，查询响应延迟大幅增加，严重影响数据库吞吐量。</a:t>
            </a:r>
            <a:endParaRPr lang="en-US" sz="1100"/>
          </a:p>
        </p:txBody>
      </p:sp>
      <p:sp>
        <p:nvSpPr>
          <p:cNvPr name="AutoShape 11" id="11"/>
          <p:cNvSpPr/>
          <p:nvPr/>
        </p:nvSpPr>
        <p:spPr>
          <a:xfrm rot="0" flipH="false" flipV="false">
            <a:off x="6223000" y="1651000"/>
            <a:ext cx="5461000" cy="20955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77000" y="1905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C55E"/>
                </a:solidFill>
                <a:latin typeface="Noto Sans SC"/>
                <a:ea typeface="Noto Sans SC"/>
                <a:cs typeface="Noto Sans SC"/>
                <a:sym typeface="Noto Sans SC"/>
              </a:rPr>
              <a:t>02</a:t>
            </a:r>
            <a:endParaRPr lang="en-US" sz="1100"/>
          </a:p>
        </p:txBody>
      </p:sp>
      <p:sp>
        <p:nvSpPr>
          <p:cNvPr name="AutoShape 13" id="13"/>
          <p:cNvSpPr/>
          <p:nvPr/>
        </p:nvSpPr>
        <p:spPr>
          <a:xfrm rot="0" flipH="false" flipV="false">
            <a:off x="7239000" y="19685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存储重复冗余</a:t>
            </a:r>
            <a:endParaRPr lang="en-US" sz="1100"/>
          </a:p>
        </p:txBody>
      </p:sp>
      <p:cxnSp>
        <p:nvCxnSpPr>
          <p:cNvPr name="Connector 14" id="14"/>
          <p:cNvCxnSpPr/>
          <p:nvPr/>
        </p:nvCxnSpPr>
        <p:spPr>
          <a:xfrm rot="-8814" flipH="false" flipV="false">
            <a:off x="6477008" y="2597150"/>
            <a:ext cx="4953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5" id="15"/>
          <p:cNvSpPr/>
          <p:nvPr/>
        </p:nvSpPr>
        <p:spPr>
          <a:xfrm rot="0" flipH="false" flipV="false">
            <a:off x="6477000" y="27305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A1A5B3"/>
                </a:solidFill>
                <a:latin typeface="Noto Sans SC"/>
                <a:ea typeface="Noto Sans SC"/>
                <a:cs typeface="Noto Sans SC"/>
                <a:sym typeface="Noto Sans SC"/>
              </a:rPr>
              <a:t>写入缓冲与查询侧会各自保存一份完整文本副本，造成双倍存储资源浪费。这不仅增加了磁盘占用，还会显著推高集群的存储成本与后续的运维负担。</a:t>
            </a:r>
            <a:endParaRPr lang="en-US" sz="1100"/>
          </a:p>
        </p:txBody>
      </p:sp>
      <p:sp>
        <p:nvSpPr>
          <p:cNvPr name="AutoShape 16" id="16"/>
          <p:cNvSpPr/>
          <p:nvPr/>
        </p:nvSpPr>
        <p:spPr>
          <a:xfrm rot="0" flipH="false" flipV="false">
            <a:off x="508000" y="4064000"/>
            <a:ext cx="5461000" cy="20955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C55E"/>
                </a:solidFill>
                <a:latin typeface="Noto Sans SC"/>
                <a:ea typeface="Noto Sans SC"/>
                <a:cs typeface="Noto Sans SC"/>
                <a:sym typeface="Noto Sans SC"/>
              </a:rPr>
              <a:t>03</a:t>
            </a:r>
            <a:endParaRPr lang="en-US" sz="1100"/>
          </a:p>
        </p:txBody>
      </p:sp>
      <p:sp>
        <p:nvSpPr>
          <p:cNvPr name="AutoShape 18" id="18"/>
          <p:cNvSpPr/>
          <p:nvPr/>
        </p:nvSpPr>
        <p:spPr>
          <a:xfrm rot="0" flipH="false" flipV="false">
            <a:off x="1524000" y="43815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写放大灾难</a:t>
            </a:r>
            <a:endParaRPr lang="en-US" sz="1100"/>
          </a:p>
        </p:txBody>
      </p:sp>
      <p:cxnSp>
        <p:nvCxnSpPr>
          <p:cNvPr name="Connector 19" id="19"/>
          <p:cNvCxnSpPr/>
          <p:nvPr/>
        </p:nvCxnSpPr>
        <p:spPr>
          <a:xfrm rot="-8814" flipH="false" flipV="false">
            <a:off x="762008" y="5010150"/>
            <a:ext cx="4953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0" id="20"/>
          <p:cNvSpPr/>
          <p:nvPr/>
        </p:nvSpPr>
        <p:spPr>
          <a:xfrm rot="0" flipH="false" flipV="false">
            <a:off x="762000" y="51435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A1A5B3"/>
                </a:solidFill>
                <a:latin typeface="Noto Sans SC"/>
                <a:ea typeface="Noto Sans SC"/>
                <a:cs typeface="Noto Sans SC"/>
                <a:sym typeface="Noto Sans SC"/>
              </a:rPr>
              <a:t>Compaction 合并操作会无差别重写包含大文本的分区文件，即便正文未修改也会重写数GB数据。这不仅极度浪费磁盘 IO，还会拖慢合并进度，引发集群性能抖动。</a:t>
            </a:r>
            <a:endParaRPr lang="en-US" sz="1100"/>
          </a:p>
        </p:txBody>
      </p:sp>
      <p:sp>
        <p:nvSpPr>
          <p:cNvPr name="AutoShape 21" id="21"/>
          <p:cNvSpPr/>
          <p:nvPr/>
        </p:nvSpPr>
        <p:spPr>
          <a:xfrm rot="0" flipH="false" flipV="false">
            <a:off x="6223000" y="4064000"/>
            <a:ext cx="5461000" cy="2095500"/>
          </a:xfrm>
          <a:prstGeom prst="roundRect">
            <a:avLst>
              <a:gd name="adj" fmla="val 0"/>
            </a:avLst>
          </a:prstGeom>
          <a:solidFill>
            <a:srgbClr val="FFFFFF">
              <a:alpha val="6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770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C55E"/>
                </a:solidFill>
                <a:latin typeface="Noto Sans SC"/>
                <a:ea typeface="Noto Sans SC"/>
                <a:cs typeface="Noto Sans SC"/>
                <a:sym typeface="Noto Sans SC"/>
              </a:rPr>
              <a:t>04</a:t>
            </a:r>
            <a:endParaRPr lang="en-US" sz="1100"/>
          </a:p>
        </p:txBody>
      </p:sp>
      <p:sp>
        <p:nvSpPr>
          <p:cNvPr name="AutoShape 23" id="23"/>
          <p:cNvSpPr/>
          <p:nvPr/>
        </p:nvSpPr>
        <p:spPr>
          <a:xfrm rot="0" flipH="false" flipV="false">
            <a:off x="7239000" y="43815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无关 I/O 开销</a:t>
            </a:r>
            <a:endParaRPr lang="en-US" sz="1100"/>
          </a:p>
        </p:txBody>
      </p:sp>
      <p:cxnSp>
        <p:nvCxnSpPr>
          <p:cNvPr name="Connector 24" id="24"/>
          <p:cNvCxnSpPr/>
          <p:nvPr/>
        </p:nvCxnSpPr>
        <p:spPr>
          <a:xfrm rot="-8814" flipH="false" flipV="false">
            <a:off x="6477008" y="5010150"/>
            <a:ext cx="4953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25" id="25"/>
          <p:cNvSpPr/>
          <p:nvPr/>
        </p:nvSpPr>
        <p:spPr>
          <a:xfrm rot="0" flipH="false" flipV="false">
            <a:off x="6477000" y="51435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A1A5B3"/>
                </a:solidFill>
                <a:latin typeface="Noto Sans SC"/>
                <a:ea typeface="Noto Sans SC"/>
                <a:cs typeface="Noto Sans SC"/>
                <a:sym typeface="Noto Sans SC"/>
              </a:rPr>
              <a:t>即便仅需返回主键或聚合结果，数据库仍需读取包含大文本的完整行数据块，产生大量无效的磁盘扫描与网络传输，大幅降低查询并发能力，拖累整体性能。</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905000" y="-1905000"/>
            <a:ext cx="6350000" cy="6350000"/>
          </a:xfrm>
          <a:prstGeom prst="ellipse">
            <a:avLst/>
          </a:prstGeom>
          <a:solidFill>
            <a:srgbClr val="00C48C">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4445000"/>
            <a:ext cx="5080000" cy="5080000"/>
          </a:xfrm>
          <a:prstGeom prst="ellipse">
            <a:avLst/>
          </a:prstGeom>
          <a:solidFill>
            <a:srgbClr val="00C48C">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1143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Milvus 3.0 方案</a:t>
            </a:r>
            <a:endParaRPr lang="en-US" sz="1100"/>
          </a:p>
        </p:txBody>
      </p:sp>
      <p:cxnSp>
        <p:nvCxnSpPr>
          <p:cNvPr name="Connector 5" id="5"/>
          <p:cNvCxnSpPr/>
          <p:nvPr/>
        </p:nvCxnSpPr>
        <p:spPr>
          <a:xfrm rot="-8594" flipH="false" flipV="false">
            <a:off x="3556008" y="3486150"/>
            <a:ext cx="5080000" cy="12700"/>
          </a:xfrm>
          <a:prstGeom prst="straightConnector1">
            <a:avLst/>
          </a:prstGeom>
          <a:solidFill>
            <a:srgbClr val="DEE0E3">
              <a:alpha val="100000"/>
            </a:srgbClr>
          </a:solidFill>
          <a:ln w="25400" cmpd="sng" cap="flat">
            <a:solidFill>
              <a:srgbClr val="00C48C">
                <a:alpha val="30000"/>
              </a:srgbClr>
            </a:solidFill>
            <a:prstDash val="solid"/>
            <a:round/>
            <a:headEnd type="none" w="lg" len="lg"/>
            <a:tailEnd type="none" w="lg" len="lg"/>
          </a:ln>
        </p:spPr>
      </p:cxnSp>
      <p:sp>
        <p:nvSpPr>
          <p:cNvPr name="AutoShape 6" id="6"/>
          <p:cNvSpPr/>
          <p:nvPr/>
        </p:nvSpPr>
        <p:spPr>
          <a:xfrm rot="0" flipH="false" flipV="false">
            <a:off x="0" y="3810000"/>
            <a:ext cx="12192000" cy="1397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000">
                <a:solidFill>
                  <a:srgbClr val="00C48C"/>
                </a:solidFill>
                <a:latin typeface="Noto Sans SC"/>
                <a:ea typeface="Noto Sans SC"/>
                <a:cs typeface="Noto Sans SC"/>
                <a:sym typeface="Noto Sans SC"/>
              </a:rPr>
              <a:t>TEXT + LOB</a:t>
            </a:r>
            <a:endParaRPr lang="en-US" sz="1100"/>
          </a:p>
        </p:txBody>
      </p:sp>
      <p:sp>
        <p:nvSpPr>
          <p:cNvPr name="AutoShape 7" id="7"/>
          <p:cNvSpPr/>
          <p:nvPr/>
        </p:nvSpPr>
        <p:spPr>
          <a:xfrm rot="0" flipH="false" flipV="false">
            <a:off x="635000" y="5588000"/>
            <a:ext cx="10922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50196"/>
                  </a:srgbClr>
                </a:solidFill>
                <a:latin typeface="Noto Sans SC"/>
                <a:ea typeface="Noto Sans SC"/>
                <a:cs typeface="Noto Sans SC"/>
                <a:sym typeface="Noto Sans SC"/>
              </a:rPr>
              <a:t>让长文本成为一等公民，纳入对象存储完整生命周期</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270000"/>
            <a:ext cx="5080000" cy="508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F59E0B">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762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508000"/>
            <a:ext cx="1092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混合存储：短文本内联，大文本走 LOB</a:t>
            </a:r>
            <a:endParaRPr lang="en-US" sz="1100"/>
          </a:p>
        </p:txBody>
      </p:sp>
      <p:sp>
        <p:nvSpPr>
          <p:cNvPr name="AutoShape 6" id="6"/>
          <p:cNvSpPr/>
          <p:nvPr/>
        </p:nvSpPr>
        <p:spPr>
          <a:xfrm rot="0" flipH="false" flipV="false">
            <a:off x="508000" y="1397000"/>
            <a:ext cx="5461000" cy="1651000"/>
          </a:xfrm>
          <a:prstGeom prst="roundRect">
            <a:avLst>
              <a:gd name="adj" fmla="val 0"/>
            </a:avLst>
          </a:prstGeom>
          <a:solidFill>
            <a:srgbClr val="2E31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1397000"/>
            <a:ext cx="76200" cy="1651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25500" y="1587500"/>
            <a:ext cx="5016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0B981"/>
                </a:solidFill>
                <a:latin typeface="Source Code Pro"/>
                <a:ea typeface="Source Code Pro"/>
                <a:cs typeface="Source Code Pro"/>
                <a:sym typeface="Source Code Pro"/>
              </a:rPr>
              <a:t>// INLINE MODE (TEXT &lt; 64KiB)</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D1D5DB"/>
                </a:solidFill>
                <a:latin typeface="Noto Sans SC"/>
                <a:ea typeface="Noto Sans SC"/>
                <a:cs typeface="Noto Sans SC"/>
                <a:sym typeface="Noto Sans SC"/>
              </a:rPr>
              <a:t>将短文本直接编码为 Bytes 存储在 Segment 数据块内部。消除额外 IO 开销，利用行缓存加速查询，非常适合标签、摘要、状态等高频访问的短文本元数据。</a:t>
            </a:r>
          </a:p>
        </p:txBody>
      </p:sp>
      <p:sp>
        <p:nvSpPr>
          <p:cNvPr name="AutoShape 9" id="9"/>
          <p:cNvSpPr/>
          <p:nvPr/>
        </p:nvSpPr>
        <p:spPr>
          <a:xfrm rot="0" flipH="false" flipV="false">
            <a:off x="6223000" y="1397000"/>
            <a:ext cx="5461000" cy="1651000"/>
          </a:xfrm>
          <a:prstGeom prst="roundRect">
            <a:avLst>
              <a:gd name="adj" fmla="val 0"/>
            </a:avLst>
          </a:prstGeom>
          <a:solidFill>
            <a:srgbClr val="2E31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397000"/>
            <a:ext cx="76200" cy="1651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540500" y="1587500"/>
            <a:ext cx="5016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59E0B"/>
                </a:solidFill>
                <a:latin typeface="Source Code Pro"/>
                <a:ea typeface="Source Code Pro"/>
                <a:cs typeface="Source Code Pro"/>
                <a:sym typeface="Source Code Pro"/>
              </a:rPr>
              <a:t>// EXTERNAL MODE (TEXT ≥ 64KiB)</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D1D5DB"/>
                </a:solidFill>
                <a:latin typeface="Noto Sans SC"/>
                <a:ea typeface="Noto Sans SC"/>
                <a:cs typeface="Noto Sans SC"/>
                <a:sym typeface="Noto Sans SC"/>
              </a:rPr>
              <a:t>大文本剥离为独立的 LOB 文件存储，主表仅保留轻量级引用指针 (file_id + offset + size)。有效防止主索引膨胀，支持大对象的按需加载、独立压缩与生命周期管理。</a:t>
            </a:r>
          </a:p>
        </p:txBody>
      </p:sp>
      <p:sp>
        <p:nvSpPr>
          <p:cNvPr name="AutoShape 12" id="12"/>
          <p:cNvSpPr/>
          <p:nvPr/>
        </p:nvSpPr>
        <p:spPr>
          <a:xfrm rot="0" flipH="false" flipV="false">
            <a:off x="508000" y="3429000"/>
            <a:ext cx="546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01 Segment Manifest 逻辑映射表</a:t>
            </a:r>
            <a:endParaRPr lang="en-US" sz="1100"/>
          </a:p>
        </p:txBody>
      </p:sp>
      <p:sp>
        <p:nvSpPr>
          <p:cNvPr name="AutoShape 13" id="13"/>
          <p:cNvSpPr/>
          <p:nvPr/>
        </p:nvSpPr>
        <p:spPr>
          <a:xfrm rot="0" flipH="false" flipV="false">
            <a:off x="508000" y="3937000"/>
            <a:ext cx="5461000" cy="2413000"/>
          </a:xfrm>
          <a:prstGeom prst="roundRect">
            <a:avLst>
              <a:gd name="adj" fmla="val 0"/>
            </a:avLst>
          </a:prstGeom>
          <a:solidFill>
            <a:srgbClr val="1F2329">
              <a:alpha val="10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08000" y="3937000"/>
            <a:ext cx="5461000" cy="508000"/>
          </a:xfrm>
          <a:prstGeom prst="roundRect">
            <a:avLst>
              <a:gd name="adj" fmla="val 0"/>
            </a:avLst>
          </a:prstGeom>
          <a:solidFill>
            <a:srgbClr val="37415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 y="4038600"/>
            <a:ext cx="520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9CA3AF"/>
                </a:solidFill>
                <a:latin typeface="Noto Sans SC"/>
                <a:ea typeface="Noto Sans SC"/>
                <a:cs typeface="Noto Sans SC"/>
                <a:sym typeface="Noto Sans SC"/>
              </a:rPr>
              <a:t>Row ID | Scalar Attr | Storage Type | Data Pointer</a:t>
            </a:r>
            <a:endParaRPr lang="en-US" sz="1100"/>
          </a:p>
        </p:txBody>
      </p:sp>
      <p:sp>
        <p:nvSpPr>
          <p:cNvPr name="AutoShape 16" id="16"/>
          <p:cNvSpPr/>
          <p:nvPr/>
        </p:nvSpPr>
        <p:spPr>
          <a:xfrm rot="0" flipH="false" flipV="false">
            <a:off x="508000" y="4508500"/>
            <a:ext cx="5461000" cy="571500"/>
          </a:xfrm>
          <a:prstGeom prst="roundRect">
            <a:avLst>
              <a:gd name="adj" fmla="val 0"/>
            </a:avLst>
          </a:prstGeom>
          <a:solidFill>
            <a:srgbClr val="282C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5000" y="46101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5E7EB"/>
                </a:solidFill>
                <a:latin typeface="Noto Sans SC"/>
                <a:ea typeface="Noto Sans SC"/>
                <a:cs typeface="Noto Sans SC"/>
                <a:sym typeface="Noto Sans SC"/>
              </a:rPr>
              <a:t>1001 | "Active" | </a:t>
            </a:r>
            <a:r>
              <a:rPr lang="en-US" b="false" i="false" strike="noStrike" u="none" sz="1400">
                <a:solidFill>
                  <a:srgbClr val="10B981"/>
                </a:solidFill>
                <a:latin typeface="Noto Sans SC"/>
                <a:ea typeface="Noto Sans SC"/>
                <a:cs typeface="Noto Sans SC"/>
                <a:sym typeface="Noto Sans SC"/>
              </a:rPr>
              <a:t>INLINE</a:t>
            </a:r>
            <a:r>
              <a:rPr lang="en-US" b="false" i="false" strike="noStrike" u="none" sz="1400">
                <a:solidFill>
                  <a:srgbClr val="E5E7EB"/>
                </a:solidFill>
                <a:latin typeface="Noto Sans SC"/>
                <a:ea typeface="Noto Sans SC"/>
                <a:cs typeface="Noto Sans SC"/>
                <a:sym typeface="Noto Sans SC"/>
              </a:rPr>
              <a:t> | 0x0A2F (Raw Bytes: "Login OK...")</a:t>
            </a:r>
            <a:endParaRPr lang="en-US" sz="1100"/>
          </a:p>
        </p:txBody>
      </p:sp>
      <p:sp>
        <p:nvSpPr>
          <p:cNvPr name="AutoShape 18" id="18"/>
          <p:cNvSpPr/>
          <p:nvPr/>
        </p:nvSpPr>
        <p:spPr>
          <a:xfrm rot="0" flipH="false" flipV="false">
            <a:off x="508000" y="5080000"/>
            <a:ext cx="5461000" cy="571500"/>
          </a:xfrm>
          <a:prstGeom prst="roundRect">
            <a:avLst>
              <a:gd name="adj" fmla="val 0"/>
            </a:avLst>
          </a:prstGeom>
          <a:solidFill>
            <a:srgbClr val="282C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35000" y="51816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5E7EB"/>
                </a:solidFill>
                <a:latin typeface="Noto Sans SC"/>
                <a:ea typeface="Noto Sans SC"/>
                <a:cs typeface="Noto Sans SC"/>
                <a:sym typeface="Noto Sans SC"/>
              </a:rPr>
              <a:t>1002 | "Batch Job" | </a:t>
            </a:r>
            <a:r>
              <a:rPr lang="en-US" b="false" i="false" strike="noStrike" u="none" sz="1400">
                <a:solidFill>
                  <a:srgbClr val="F59E0B"/>
                </a:solidFill>
                <a:latin typeface="Noto Sans SC"/>
                <a:ea typeface="Noto Sans SC"/>
                <a:cs typeface="Noto Sans SC"/>
                <a:sym typeface="Noto Sans SC"/>
              </a:rPr>
              <a:t>LOB_REF</a:t>
            </a:r>
            <a:r>
              <a:rPr lang="en-US" b="false" i="false" strike="noStrike" u="none" sz="1400">
                <a:solidFill>
                  <a:srgbClr val="E5E7EB"/>
                </a:solidFill>
                <a:latin typeface="Noto Sans SC"/>
                <a:ea typeface="Noto Sans SC"/>
                <a:cs typeface="Noto Sans SC"/>
                <a:sym typeface="Noto Sans SC"/>
              </a:rPr>
              <a:t> | file:0x8B3E, off:0x1200, sz:80KB</a:t>
            </a:r>
            <a:endParaRPr lang="en-US" sz="1100"/>
          </a:p>
        </p:txBody>
      </p:sp>
      <p:sp>
        <p:nvSpPr>
          <p:cNvPr name="AutoShape 20" id="20"/>
          <p:cNvSpPr/>
          <p:nvPr/>
        </p:nvSpPr>
        <p:spPr>
          <a:xfrm rot="0" flipH="false" flipV="false">
            <a:off x="508000" y="5651500"/>
            <a:ext cx="5461000" cy="571500"/>
          </a:xfrm>
          <a:prstGeom prst="roundRect">
            <a:avLst>
              <a:gd name="adj" fmla="val 0"/>
            </a:avLst>
          </a:prstGeom>
          <a:solidFill>
            <a:srgbClr val="282C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5000" y="57531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5E7EB"/>
                </a:solidFill>
                <a:latin typeface="Noto Sans SC"/>
                <a:ea typeface="Noto Sans SC"/>
                <a:cs typeface="Noto Sans SC"/>
                <a:sym typeface="Noto Sans SC"/>
              </a:rPr>
              <a:t>1003 | "Archived" | </a:t>
            </a:r>
            <a:r>
              <a:rPr lang="en-US" b="false" i="false" strike="noStrike" u="none" sz="1400">
                <a:solidFill>
                  <a:srgbClr val="F59E0B"/>
                </a:solidFill>
                <a:latin typeface="Noto Sans SC"/>
                <a:ea typeface="Noto Sans SC"/>
                <a:cs typeface="Noto Sans SC"/>
                <a:sym typeface="Noto Sans SC"/>
              </a:rPr>
              <a:t>LOB_REF</a:t>
            </a:r>
            <a:r>
              <a:rPr lang="en-US" b="false" i="false" strike="noStrike" u="none" sz="1400">
                <a:solidFill>
                  <a:srgbClr val="E5E7EB"/>
                </a:solidFill>
                <a:latin typeface="Noto Sans SC"/>
                <a:ea typeface="Noto Sans SC"/>
                <a:cs typeface="Noto Sans SC"/>
                <a:sym typeface="Noto Sans SC"/>
              </a:rPr>
              <a:t> | file:0x8B3E, off:0x3400, sz:1.2MB</a:t>
            </a:r>
            <a:endParaRPr lang="en-US" sz="1100"/>
          </a:p>
        </p:txBody>
      </p:sp>
      <p:sp>
        <p:nvSpPr>
          <p:cNvPr name="AutoShape 22" id="22"/>
          <p:cNvSpPr/>
          <p:nvPr/>
        </p:nvSpPr>
        <p:spPr>
          <a:xfrm rot="0" flipH="false" flipV="false">
            <a:off x="6223000" y="3429000"/>
            <a:ext cx="546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02 LOB 物理文件系统布局</a:t>
            </a:r>
            <a:endParaRPr lang="en-US" sz="1100"/>
          </a:p>
        </p:txBody>
      </p:sp>
      <p:sp>
        <p:nvSpPr>
          <p:cNvPr name="AutoShape 23" id="23"/>
          <p:cNvSpPr/>
          <p:nvPr/>
        </p:nvSpPr>
        <p:spPr>
          <a:xfrm rot="0" flipH="false" flipV="false">
            <a:off x="6223000" y="3937000"/>
            <a:ext cx="5461000" cy="2413000"/>
          </a:xfrm>
          <a:prstGeom prst="roundRect">
            <a:avLst>
              <a:gd name="adj" fmla="val 0"/>
            </a:avLst>
          </a:prstGeom>
          <a:solidFill>
            <a:srgbClr val="1F2329">
              <a:alpha val="10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13500" y="4127500"/>
            <a:ext cx="5207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818CF8"/>
                </a:solidFill>
                <a:latin typeface="Source Code Pro"/>
                <a:ea typeface="Source Code Pro"/>
                <a:cs typeface="Source Code Pro"/>
                <a:sym typeface="Source Code Pro"/>
              </a:rPr>
              <a:t>📂 /data/warehouse/part-00002/</a:t>
            </a:r>
            <a:r>
              <a:rPr lang="en-US" b="false" i="false" strike="noStrike" u="none" sz="1500">
                <a:solidFill>
                  <a:srgbClr val="818CF8"/>
                </a:solidFill>
                <a:latin typeface="Source Code Pro"/>
                <a:ea typeface="Source Code Pro"/>
                <a:cs typeface="Source Code Pro"/>
                <a:sym typeface="Source Code Pro"/>
              </a:rPr>
              <a:t/>
            </a:r>
            <a:endParaRPr lang="en-US" sz="1100"/>
          </a:p>
          <a:p>
            <a:pPr algn="l" marL="0" indent="0">
              <a:lnSpc>
                <a:spcPct val="125000"/>
              </a:lnSpc>
            </a:pPr>
            <a:r>
              <a:rPr lang="en-US" b="false" i="false" strike="noStrike" u="none" sz="1500">
                <a:solidFill>
                  <a:srgbClr val="818CF8"/>
                </a:solidFill>
                <a:latin typeface="Source Code Pro"/>
                <a:ea typeface="Source Code Pro"/>
                <a:cs typeface="Source Code Pro"/>
                <a:sym typeface="Source Code Pro"/>
              </a:rPr>
              <a:t>├── 📂 lobs/ # LOB 专属根目录</a:t>
            </a:r>
            <a:r>
              <a:rPr lang="en-US" b="false" i="false" strike="noStrike" u="none" sz="1500">
                <a:solidFill>
                  <a:srgbClr val="818CF8"/>
                </a:solidFill>
                <a:latin typeface="Source Code Pro"/>
                <a:ea typeface="Source Code Pro"/>
                <a:cs typeface="Source Code Pro"/>
                <a:sym typeface="Source Code Pro"/>
              </a:rPr>
              <a:t/>
            </a:r>
          </a:p>
          <a:p>
            <a:pPr algn="l" marL="0" indent="0">
              <a:lnSpc>
                <a:spcPct val="125000"/>
              </a:lnSpc>
            </a:pPr>
            <a:r>
              <a:rPr lang="en-US" b="false" i="false" strike="noStrike" u="none" sz="1500">
                <a:solidFill>
                  <a:srgbClr val="818CF8"/>
                </a:solidFill>
                <a:latin typeface="Source Code Pro"/>
                <a:ea typeface="Source Code Pro"/>
                <a:cs typeface="Source Code Pro"/>
                <a:sym typeface="Source Code Pro"/>
              </a:rPr>
              <a:t>│ └── 📂 field_7/ # 按字段ID隔离存储</a:t>
            </a:r>
            <a:r>
              <a:rPr lang="en-US" b="false" i="false" strike="noStrike" u="none" sz="1500">
                <a:solidFill>
                  <a:srgbClr val="818CF8"/>
                </a:solidFill>
                <a:latin typeface="Source Code Pro"/>
                <a:ea typeface="Source Code Pro"/>
                <a:cs typeface="Source Code Pro"/>
                <a:sym typeface="Source Code Pro"/>
              </a:rPr>
              <a:t/>
            </a:r>
          </a:p>
          <a:p>
            <a:pPr algn="l" marL="0" indent="0">
              <a:lnSpc>
                <a:spcPct val="125000"/>
              </a:lnSpc>
            </a:pPr>
            <a:r>
              <a:rPr lang="en-US" b="false" i="false" strike="noStrike" u="none" sz="1500">
                <a:solidFill>
                  <a:srgbClr val="818CF8"/>
                </a:solidFill>
                <a:latin typeface="Source Code Pro"/>
                <a:ea typeface="Source Code Pro"/>
                <a:cs typeface="Source Code Pro"/>
                <a:sym typeface="Source Code Pro"/>
              </a:rPr>
              <a:t>│ ├── 📄 0x8B3E.vx # 实际数据文件 (vx=vector+text)</a:t>
            </a:r>
            <a:r>
              <a:rPr lang="en-US" b="false" i="false" strike="noStrike" u="none" sz="1500">
                <a:solidFill>
                  <a:srgbClr val="818CF8"/>
                </a:solidFill>
                <a:latin typeface="Source Code Pro"/>
                <a:ea typeface="Source Code Pro"/>
                <a:cs typeface="Source Code Pro"/>
                <a:sym typeface="Source Code Pro"/>
              </a:rPr>
              <a:t/>
            </a:r>
          </a:p>
          <a:p>
            <a:pPr algn="l" marL="0" indent="0">
              <a:lnSpc>
                <a:spcPct val="125000"/>
              </a:lnSpc>
            </a:pPr>
            <a:r>
              <a:rPr lang="en-US" b="false" i="false" strike="noStrike" u="none" sz="1500">
                <a:solidFill>
                  <a:srgbClr val="818CF8"/>
                </a:solidFill>
                <a:latin typeface="Source Code Pro"/>
                <a:ea typeface="Source Code Pro"/>
                <a:cs typeface="Source Code Pro"/>
                <a:sym typeface="Source Code Pro"/>
              </a:rPr>
              <a:t>│ └── 📄 0x8B3E.idx # 索引文件 (记录 offset/size)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905000"/>
            <a:ext cx="5080000" cy="508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76200" cy="4064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11200" y="508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FFFFFF"/>
                </a:solidFill>
                <a:latin typeface="Noto Sans SC"/>
                <a:ea typeface="Noto Sans SC"/>
                <a:cs typeface="Noto Sans SC"/>
                <a:sym typeface="Noto Sans SC"/>
              </a:rPr>
              <a:t>Compaction：能复用就不重写</a:t>
            </a:r>
            <a:endParaRPr lang="en-US" sz="1100"/>
          </a:p>
        </p:txBody>
      </p:sp>
      <p:sp>
        <p:nvSpPr>
          <p:cNvPr name="AutoShape 6" id="6"/>
          <p:cNvSpPr/>
          <p:nvPr/>
        </p:nvSpPr>
        <p:spPr>
          <a:xfrm rot="0" flipH="false" flipV="false">
            <a:off x="508000" y="1270000"/>
            <a:ext cx="1117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9CA3AF"/>
                </a:solidFill>
                <a:latin typeface="Noto Sans SC"/>
                <a:ea typeface="Noto Sans SC"/>
                <a:cs typeface="Noto Sans SC"/>
                <a:sym typeface="Noto Sans SC"/>
              </a:rPr>
              <a:t>核心思路：在 Compaction 过程中，新生成的 Segment 会通过重组索引来引用原有的 LOB（Large Object）文件，原文件本身保持不变。这种机制避免了大量的磁盘重写 IO 开销，从而极大提升了合并效率与系统吞吐量。</a:t>
            </a:r>
            <a:endParaRPr lang="en-US" sz="1100"/>
          </a:p>
        </p:txBody>
      </p:sp>
      <p:sp>
        <p:nvSpPr>
          <p:cNvPr name="AutoShape 7" id="7"/>
          <p:cNvSpPr/>
          <p:nvPr/>
        </p:nvSpPr>
        <p:spPr>
          <a:xfrm rot="0" flipH="false" flipV="false">
            <a:off x="508000" y="2286000"/>
            <a:ext cx="11176000" cy="1079500"/>
          </a:xfrm>
          <a:prstGeom prst="roundRect">
            <a:avLst>
              <a:gd name="adj" fmla="val 0"/>
            </a:avLst>
          </a:prstGeom>
          <a:solidFill>
            <a:srgbClr val="10B981">
              <a:alpha val="8000"/>
            </a:srgbClr>
          </a:solidFill>
          <a:ln w="12700" cmpd="sng" cap="flat">
            <a:solidFill>
              <a:srgbClr val="10B981">
                <a:alpha val="2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4384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0B981"/>
                </a:solidFill>
                <a:latin typeface="Noto Sans SC"/>
                <a:ea typeface="Noto Sans SC"/>
                <a:cs typeface="Noto Sans SC"/>
                <a:sym typeface="Noto Sans SC"/>
              </a:rPr>
              <a:t>关键评估指标：空洞率</a:t>
            </a:r>
            <a:endParaRPr lang="en-US" sz="1100"/>
          </a:p>
        </p:txBody>
      </p:sp>
      <p:sp>
        <p:nvSpPr>
          <p:cNvPr name="AutoShape 9" id="9"/>
          <p:cNvSpPr/>
          <p:nvPr/>
        </p:nvSpPr>
        <p:spPr>
          <a:xfrm rot="0" flipH="false" flipV="false">
            <a:off x="762000" y="28194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5E7EB"/>
                </a:solidFill>
                <a:latin typeface="Noto Sans SC"/>
                <a:ea typeface="Noto Sans SC"/>
                <a:cs typeface="Noto Sans SC"/>
                <a:sym typeface="Noto Sans SC"/>
              </a:rPr>
              <a:t>hole_ratio =</a:t>
            </a:r>
            <a:r>
              <a:rPr lang="en-US" b="true" i="false" strike="noStrike" u="none" sz="1600">
                <a:solidFill>
                  <a:srgbClr val="1F2329"/>
                </a:solidFill>
                <a:latin typeface="Noto Sans SC"/>
                <a:ea typeface="Noto Sans SC"/>
                <a:cs typeface="Noto Sans SC"/>
                <a:sym typeface="Noto Sans SC"/>
              </a:rPr>
              <a:t> </a:t>
            </a:r>
            <a:r>
              <a:rPr lang="en-US" b="true" i="false" strike="noStrike" u="none" sz="1800">
                <a:solidFill>
                  <a:srgbClr val="10B981"/>
                </a:solidFill>
                <a:latin typeface="Noto Sans SC"/>
                <a:ea typeface="Noto Sans SC"/>
                <a:cs typeface="Noto Sans SC"/>
                <a:sym typeface="Noto Sans SC"/>
              </a:rPr>
              <a:t>unused_lob_rows</a:t>
            </a:r>
            <a:r>
              <a:rPr lang="en-US" b="true" i="false" strike="noStrike" u="none" sz="1600">
                <a:solidFill>
                  <a:srgbClr val="1F2329"/>
                </a:solidFill>
                <a:latin typeface="Noto Sans SC"/>
                <a:ea typeface="Noto Sans SC"/>
                <a:cs typeface="Noto Sans SC"/>
                <a:sym typeface="Noto Sans SC"/>
              </a:rPr>
              <a:t> </a:t>
            </a:r>
            <a:r>
              <a:rPr lang="en-US" b="true" i="false" strike="noStrike" u="none" sz="1800">
                <a:solidFill>
                  <a:srgbClr val="E5E7EB"/>
                </a:solidFill>
                <a:latin typeface="Noto Sans SC"/>
                <a:ea typeface="Noto Sans SC"/>
                <a:cs typeface="Noto Sans SC"/>
                <a:sym typeface="Noto Sans SC"/>
              </a:rPr>
              <a:t>/ total_lob_rows —— 决定 Compaction 策略的核心阈值</a:t>
            </a:r>
            <a:endParaRPr lang="en-US" sz="1100"/>
          </a:p>
        </p:txBody>
      </p:sp>
      <p:sp>
        <p:nvSpPr>
          <p:cNvPr name="AutoShape 10" id="10"/>
          <p:cNvSpPr/>
          <p:nvPr/>
        </p:nvSpPr>
        <p:spPr>
          <a:xfrm rot="0" flipH="false" flipV="false">
            <a:off x="508000" y="3746500"/>
            <a:ext cx="3556000" cy="2413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4000500"/>
            <a:ext cx="304800" cy="304800"/>
          </a:xfrm>
          <a:prstGeom prst="rect">
            <a:avLst/>
          </a:prstGeom>
        </p:spPr>
      </p:pic>
      <p:sp>
        <p:nvSpPr>
          <p:cNvPr name="AutoShape 12" id="12"/>
          <p:cNvSpPr/>
          <p:nvPr/>
        </p:nvSpPr>
        <p:spPr>
          <a:xfrm rot="0" flipH="false" flipV="false">
            <a:off x="1143000" y="3962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REUSE_ALL 复用优先</a:t>
            </a:r>
            <a:endParaRPr lang="en-US" sz="1100"/>
          </a:p>
        </p:txBody>
      </p:sp>
      <p:sp>
        <p:nvSpPr>
          <p:cNvPr name="AutoShape 13" id="13"/>
          <p:cNvSpPr/>
          <p:nvPr/>
        </p:nvSpPr>
        <p:spPr>
          <a:xfrm rot="0" flipH="false" flipV="false">
            <a:off x="698500" y="4508500"/>
            <a:ext cx="1079500" cy="279400"/>
          </a:xfrm>
          <a:prstGeom prst="roundRect">
            <a:avLst>
              <a:gd name="adj" fmla="val 0"/>
            </a:avLst>
          </a:prstGeom>
          <a:solidFill>
            <a:srgbClr val="10B981">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98500" y="4508500"/>
            <a:ext cx="10795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34D399"/>
                </a:solidFill>
                <a:latin typeface="Noto Sans SC"/>
                <a:ea typeface="Noto Sans SC"/>
                <a:cs typeface="Noto Sans SC"/>
                <a:sym typeface="Noto Sans SC"/>
              </a:rPr>
              <a:t>低空洞率</a:t>
            </a:r>
            <a:endParaRPr lang="en-US" sz="1100"/>
          </a:p>
        </p:txBody>
      </p:sp>
      <p:sp>
        <p:nvSpPr>
          <p:cNvPr name="AutoShape 15" id="15"/>
          <p:cNvSpPr/>
          <p:nvPr/>
        </p:nvSpPr>
        <p:spPr>
          <a:xfrm rot="0" flipH="false" flipV="false">
            <a:off x="698500" y="4953000"/>
            <a:ext cx="317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9CA3AF"/>
                </a:solidFill>
                <a:latin typeface="Noto Sans SC"/>
                <a:ea typeface="Noto Sans SC"/>
                <a:cs typeface="Noto Sans SC"/>
                <a:sym typeface="Noto Sans SC"/>
              </a:rPr>
              <a:t>当空洞率较低时触发，直接复用现有 LOB 文件，仅在新 Segment 中更新引用指针。这是效率最高的模式，IO 开销几乎为零，适用于数据更新频繁但删除较少的场景。</a:t>
            </a:r>
            <a:endParaRPr lang="en-US" sz="1100"/>
          </a:p>
        </p:txBody>
      </p:sp>
      <p:sp>
        <p:nvSpPr>
          <p:cNvPr name="AutoShape 16" id="16"/>
          <p:cNvSpPr/>
          <p:nvPr/>
        </p:nvSpPr>
        <p:spPr>
          <a:xfrm rot="0" flipH="false" flipV="false">
            <a:off x="4318000" y="3746500"/>
            <a:ext cx="3556000" cy="2413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4000500"/>
            <a:ext cx="304800" cy="304800"/>
          </a:xfrm>
          <a:prstGeom prst="rect">
            <a:avLst/>
          </a:prstGeom>
        </p:spPr>
      </p:pic>
      <p:sp>
        <p:nvSpPr>
          <p:cNvPr name="AutoShape 18" id="18"/>
          <p:cNvSpPr/>
          <p:nvPr/>
        </p:nvSpPr>
        <p:spPr>
          <a:xfrm rot="0" flipH="false" flipV="false">
            <a:off x="4953000" y="3962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REWRITE_ALL 重写优化</a:t>
            </a:r>
            <a:endParaRPr lang="en-US" sz="1100"/>
          </a:p>
        </p:txBody>
      </p:sp>
      <p:sp>
        <p:nvSpPr>
          <p:cNvPr name="AutoShape 19" id="19"/>
          <p:cNvSpPr/>
          <p:nvPr/>
        </p:nvSpPr>
        <p:spPr>
          <a:xfrm rot="0" flipH="false" flipV="false">
            <a:off x="4508500" y="4508500"/>
            <a:ext cx="1079500" cy="279400"/>
          </a:xfrm>
          <a:prstGeom prst="roundRect">
            <a:avLst>
              <a:gd name="adj" fmla="val 0"/>
            </a:avLst>
          </a:prstGeom>
          <a:solidFill>
            <a:srgbClr val="F59E0B">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508500" y="4508500"/>
            <a:ext cx="10795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BBF24"/>
                </a:solidFill>
                <a:latin typeface="Noto Sans SC"/>
                <a:ea typeface="Noto Sans SC"/>
                <a:cs typeface="Noto Sans SC"/>
                <a:sym typeface="Noto Sans SC"/>
              </a:rPr>
              <a:t>高空洞率</a:t>
            </a:r>
            <a:endParaRPr lang="en-US" sz="1100"/>
          </a:p>
        </p:txBody>
      </p:sp>
      <p:sp>
        <p:nvSpPr>
          <p:cNvPr name="AutoShape 21" id="21"/>
          <p:cNvSpPr/>
          <p:nvPr/>
        </p:nvSpPr>
        <p:spPr>
          <a:xfrm rot="0" flipH="false" flipV="false">
            <a:off x="4508500" y="4953000"/>
            <a:ext cx="317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9CA3AF"/>
                </a:solidFill>
                <a:latin typeface="Noto Sans SC"/>
                <a:ea typeface="Noto Sans SC"/>
                <a:cs typeface="Noto Sans SC"/>
                <a:sym typeface="Noto Sans SC"/>
              </a:rPr>
              <a:t>当空洞率超过阈值时触发，将原文件中的有效数据提取并写入全新的 LOB 文件。虽然会产生一定的写 IO，但能彻底清理空间碎片，显著降低存储空间占用，提升后续读取性能。</a:t>
            </a:r>
            <a:endParaRPr lang="en-US" sz="1100"/>
          </a:p>
        </p:txBody>
      </p:sp>
      <p:sp>
        <p:nvSpPr>
          <p:cNvPr name="AutoShape 22" id="22"/>
          <p:cNvSpPr/>
          <p:nvPr/>
        </p:nvSpPr>
        <p:spPr>
          <a:xfrm rot="0" flipH="false" flipV="false">
            <a:off x="8128000" y="3746500"/>
            <a:ext cx="3556000" cy="2413000"/>
          </a:xfrm>
          <a:prstGeom prst="roundRect">
            <a:avLst>
              <a:gd name="adj" fmla="val 0"/>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4000500"/>
            <a:ext cx="304800" cy="304800"/>
          </a:xfrm>
          <a:prstGeom prst="rect">
            <a:avLst/>
          </a:prstGeom>
        </p:spPr>
      </p:pic>
      <p:sp>
        <p:nvSpPr>
          <p:cNvPr name="AutoShape 24" id="24"/>
          <p:cNvSpPr/>
          <p:nvPr/>
        </p:nvSpPr>
        <p:spPr>
          <a:xfrm rot="0" flipH="false" flipV="false">
            <a:off x="8763000" y="3962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SKIP 仅清理删除</a:t>
            </a:r>
            <a:endParaRPr lang="en-US" sz="1100"/>
          </a:p>
        </p:txBody>
      </p:sp>
      <p:sp>
        <p:nvSpPr>
          <p:cNvPr name="AutoShape 25" id="25"/>
          <p:cNvSpPr/>
          <p:nvPr/>
        </p:nvSpPr>
        <p:spPr>
          <a:xfrm rot="0" flipH="false" flipV="false">
            <a:off x="8318500" y="4508500"/>
            <a:ext cx="1079500" cy="279400"/>
          </a:xfrm>
          <a:prstGeom prst="roundRect">
            <a:avLst>
              <a:gd name="adj" fmla="val 0"/>
            </a:avLst>
          </a:prstGeom>
          <a:solidFill>
            <a:srgbClr val="EF4444">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318500" y="4508500"/>
            <a:ext cx="1079500" cy="279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87171"/>
                </a:solidFill>
                <a:latin typeface="Noto Sans SC"/>
                <a:ea typeface="Noto Sans SC"/>
                <a:cs typeface="Noto Sans SC"/>
                <a:sym typeface="Noto Sans SC"/>
              </a:rPr>
              <a:t>L0 层专用</a:t>
            </a:r>
            <a:endParaRPr lang="en-US" sz="1100"/>
          </a:p>
        </p:txBody>
      </p:sp>
      <p:sp>
        <p:nvSpPr>
          <p:cNvPr name="AutoShape 27" id="27"/>
          <p:cNvSpPr/>
          <p:nvPr/>
        </p:nvSpPr>
        <p:spPr>
          <a:xfrm rot="0" flipH="false" flipV="false">
            <a:off x="8318500" y="4953000"/>
            <a:ext cx="317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9CA3AF"/>
                </a:solidFill>
                <a:latin typeface="Noto Sans SC"/>
                <a:ea typeface="Noto Sans SC"/>
                <a:cs typeface="Noto Sans SC"/>
                <a:sym typeface="Noto Sans SC"/>
              </a:rPr>
              <a:t>针对 L0 层的轻量级合并策略。只处理被标记为删除的条目，不移动或重写任何有效数据。它是清理过期数据的“快速通道”，具有极低的 IO 开销，适合高频执行。</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58800"/>
            <a:ext cx="76200" cy="4064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11200" y="508000"/>
            <a:ext cx="109728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FFFFFF"/>
                </a:solidFill>
                <a:latin typeface="Noto Sans SC"/>
                <a:ea typeface="Noto Sans SC"/>
                <a:cs typeface="Noto Sans SC"/>
                <a:sym typeface="Noto Sans SC"/>
              </a:rPr>
              <a:t>Read Path：对查询层透明</a:t>
            </a:r>
            <a:endParaRPr lang="en-US" sz="1100"/>
          </a:p>
        </p:txBody>
      </p:sp>
      <p:sp>
        <p:nvSpPr>
          <p:cNvPr name="AutoShape 6" id="6"/>
          <p:cNvSpPr/>
          <p:nvPr/>
        </p:nvSpPr>
        <p:spPr>
          <a:xfrm rot="0" flipH="false" flipV="false">
            <a:off x="508000" y="1397000"/>
            <a:ext cx="5334000" cy="3302000"/>
          </a:xfrm>
          <a:prstGeom prst="roundRect">
            <a:avLst>
              <a:gd name="adj" fmla="val 0"/>
            </a:avLst>
          </a:prstGeom>
          <a:solidFill>
            <a:srgbClr val="2A2E38">
              <a:alpha val="10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 y="1587500"/>
            <a:ext cx="495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A7F3D0"/>
                </a:solidFill>
                <a:latin typeface="Roboto Mono"/>
                <a:ea typeface="Roboto Mono"/>
                <a:cs typeface="Roboto Mono"/>
                <a:sym typeface="Roboto Mono"/>
              </a:rPr>
              <a:t>// 核心读取流程 (Core Read Logic)</a:t>
            </a:r>
            <a:endParaRPr lang="en-US" sz="1100"/>
          </a:p>
        </p:txBody>
      </p:sp>
      <p:sp>
        <p:nvSpPr>
          <p:cNvPr name="AutoShape 8" id="8"/>
          <p:cNvSpPr/>
          <p:nvPr/>
        </p:nvSpPr>
        <p:spPr>
          <a:xfrm rot="0" flipH="false" flipV="false">
            <a:off x="698500" y="2032000"/>
            <a:ext cx="4953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D1D5DB"/>
                </a:solidFill>
                <a:latin typeface="Roboto Mono"/>
                <a:ea typeface="Roboto Mono"/>
                <a:cs typeface="Roboto Mono"/>
                <a:sym typeface="Roboto Mono"/>
              </a:rPr>
              <a:t>if (is_inline(reference)) {</a:t>
            </a:r>
            <a:r>
              <a:rPr lang="en-US" b="false" i="false" strike="noStrike" u="none" sz="1500">
                <a:solidFill>
                  <a:srgbClr val="1F2329"/>
                </a:solidFill>
                <a:latin typeface="Roboto Mono"/>
                <a:ea typeface="Roboto Mono"/>
                <a:cs typeface="Roboto Mono"/>
                <a:sym typeface="Roboto Mono"/>
              </a:rPr>
              <a:t/>
            </a:r>
            <a:endParaRPr lang="en-US" sz="1100"/>
          </a:p>
          <a:p>
            <a:pPr algn="l" marL="0" indent="0">
              <a:lnSpc>
                <a:spcPct val="125000"/>
              </a:lnSpc>
            </a:pPr>
            <a:r>
              <a:rPr lang="en-US" b="false" i="false" strike="noStrike" u="none" sz="1500">
                <a:solidFill>
                  <a:srgbClr val="94A3B8"/>
                </a:solidFill>
                <a:latin typeface="Roboto Mono"/>
                <a:ea typeface="Roboto Mono"/>
                <a:cs typeface="Roboto Mono"/>
                <a:sym typeface="Roboto Mono"/>
              </a:rPr>
              <a:t>return ref-&gt;inline_bytes; // 直接返回内联数据</a:t>
            </a:r>
            <a:r>
              <a:rPr lang="en-US" b="false" i="false" strike="noStrike" u="none" sz="1500">
                <a:solidFill>
                  <a:srgbClr val="1F2329"/>
                </a:solidFill>
                <a:latin typeface="Roboto Mono"/>
                <a:ea typeface="Roboto Mono"/>
                <a:cs typeface="Roboto Mono"/>
                <a:sym typeface="Roboto Mono"/>
              </a:rPr>
              <a:t/>
            </a:r>
          </a:p>
          <a:p>
            <a:pPr algn="l" marL="0" indent="0">
              <a:lnSpc>
                <a:spcPct val="125000"/>
              </a:lnSpc>
            </a:pPr>
            <a:r>
              <a:rPr lang="en-US" b="false" i="false" strike="noStrike" u="none" sz="1500">
                <a:solidFill>
                  <a:srgbClr val="D1D5DB"/>
                </a:solidFill>
                <a:latin typeface="Roboto Mono"/>
                <a:ea typeface="Roboto Mono"/>
                <a:cs typeface="Roboto Mono"/>
                <a:sym typeface="Roboto Mono"/>
              </a:rPr>
              <a:t>} else {</a:t>
            </a:r>
            <a:r>
              <a:rPr lang="en-US" b="false" i="false" strike="noStrike" u="none" sz="1500">
                <a:solidFill>
                  <a:srgbClr val="1F2329"/>
                </a:solidFill>
                <a:latin typeface="Roboto Mono"/>
                <a:ea typeface="Roboto Mono"/>
                <a:cs typeface="Roboto Mono"/>
                <a:sym typeface="Roboto Mono"/>
              </a:rPr>
              <a:t/>
            </a:r>
          </a:p>
          <a:p>
            <a:pPr algn="l" marL="0" indent="0">
              <a:lnSpc>
                <a:spcPct val="125000"/>
              </a:lnSpc>
            </a:pPr>
            <a:r>
              <a:rPr lang="en-US" b="false" i="false" strike="noStrike" u="none" sz="1500">
                <a:solidFill>
                  <a:srgbClr val="94A3B8"/>
                </a:solidFill>
                <a:latin typeface="Roboto Mono"/>
                <a:ea typeface="Roboto Mono"/>
                <a:cs typeface="Roboto Mono"/>
                <a:sym typeface="Roboto Mono"/>
              </a:rPr>
              <a:t>(fid, offset) = decode_ptr(reference);</a:t>
            </a:r>
            <a:r>
              <a:rPr lang="en-US" b="false" i="false" strike="noStrike" u="none" sz="1500">
                <a:solidFill>
                  <a:srgbClr val="1F2329"/>
                </a:solidFill>
                <a:latin typeface="Roboto Mono"/>
                <a:ea typeface="Roboto Mono"/>
                <a:cs typeface="Roboto Mono"/>
                <a:sym typeface="Roboto Mono"/>
              </a:rPr>
              <a:t/>
            </a:r>
          </a:p>
          <a:p>
            <a:pPr algn="l" marL="0" indent="0">
              <a:lnSpc>
                <a:spcPct val="125000"/>
              </a:lnSpc>
            </a:pPr>
            <a:r>
              <a:rPr lang="en-US" b="false" i="false" strike="noStrike" u="none" sz="1500">
                <a:solidFill>
                  <a:srgbClr val="94A3B8"/>
                </a:solidFill>
                <a:latin typeface="Roboto Mono"/>
                <a:ea typeface="Roboto Mono"/>
                <a:cs typeface="Roboto Mono"/>
                <a:sym typeface="Roboto Mono"/>
              </a:rPr>
              <a:t>return lob_pool[fid]-&gt;read(offset); // 复用Reader</a:t>
            </a:r>
            <a:r>
              <a:rPr lang="en-US" b="false" i="false" strike="noStrike" u="none" sz="1500">
                <a:solidFill>
                  <a:srgbClr val="1F2329"/>
                </a:solidFill>
                <a:latin typeface="Roboto Mono"/>
                <a:ea typeface="Roboto Mono"/>
                <a:cs typeface="Roboto Mono"/>
                <a:sym typeface="Roboto Mono"/>
              </a:rPr>
              <a:t/>
            </a:r>
          </a:p>
          <a:p>
            <a:pPr algn="l" marL="0" indent="0">
              <a:lnSpc>
                <a:spcPct val="125000"/>
              </a:lnSpc>
            </a:pPr>
            <a:r>
              <a:rPr lang="en-US" b="false" i="false" strike="noStrike" u="none" sz="1500">
                <a:solidFill>
                  <a:srgbClr val="D1D5DB"/>
                </a:solidFill>
                <a:latin typeface="Roboto Mono"/>
                <a:ea typeface="Roboto Mono"/>
                <a:cs typeface="Roboto Mono"/>
                <a:sym typeface="Roboto Mono"/>
              </a:rPr>
              <a:t>}</a:t>
            </a:r>
          </a:p>
        </p:txBody>
      </p:sp>
      <p:sp>
        <p:nvSpPr>
          <p:cNvPr name="AutoShape 9" id="9"/>
          <p:cNvSpPr/>
          <p:nvPr/>
        </p:nvSpPr>
        <p:spPr>
          <a:xfrm rot="0" flipH="false" flipV="false">
            <a:off x="6223000" y="1397000"/>
            <a:ext cx="5461000" cy="1587500"/>
          </a:xfrm>
          <a:prstGeom prst="roundRect">
            <a:avLst>
              <a:gd name="adj" fmla="val 0"/>
            </a:avLst>
          </a:prstGeom>
          <a:solidFill>
            <a:srgbClr val="2A2E38">
              <a:alpha val="10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413500" y="1625600"/>
            <a:ext cx="304800" cy="304800"/>
          </a:xfrm>
          <a:prstGeom prst="rect">
            <a:avLst/>
          </a:prstGeom>
        </p:spPr>
      </p:pic>
      <p:sp>
        <p:nvSpPr>
          <p:cNvPr name="AutoShape 11" id="11"/>
          <p:cNvSpPr/>
          <p:nvPr/>
        </p:nvSpPr>
        <p:spPr>
          <a:xfrm rot="0" flipH="false" flipV="false">
            <a:off x="6858000" y="1625600"/>
            <a:ext cx="4635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资源复用：按 File_ID 分组管理</a:t>
            </a:r>
            <a:endParaRPr lang="en-US" sz="1100"/>
          </a:p>
        </p:txBody>
      </p:sp>
      <p:sp>
        <p:nvSpPr>
          <p:cNvPr name="AutoShape 12" id="12"/>
          <p:cNvSpPr/>
          <p:nvPr/>
        </p:nvSpPr>
        <p:spPr>
          <a:xfrm rot="0" flipH="false" flipV="false">
            <a:off x="6413500" y="20574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C5C7CA"/>
                </a:solidFill>
                <a:latin typeface="Noto Sans SC"/>
                <a:ea typeface="Noto Sans SC"/>
                <a:cs typeface="Noto Sans SC"/>
                <a:sym typeface="Noto Sans SC"/>
              </a:rPr>
              <a:t>避免为每行数据重复创建/销毁 Reader 实例。通过维护按 file_id 索引的 Reader 连接池，大幅减少文件打开/关闭的系统调用开销，显著提升高并发下的读取性能。</a:t>
            </a:r>
            <a:endParaRPr lang="en-US" sz="1100"/>
          </a:p>
        </p:txBody>
      </p:sp>
      <p:sp>
        <p:nvSpPr>
          <p:cNvPr name="AutoShape 13" id="13"/>
          <p:cNvSpPr/>
          <p:nvPr/>
        </p:nvSpPr>
        <p:spPr>
          <a:xfrm rot="0" flipH="false" flipV="false">
            <a:off x="6223000" y="3111500"/>
            <a:ext cx="5461000" cy="1587500"/>
          </a:xfrm>
          <a:prstGeom prst="roundRect">
            <a:avLst>
              <a:gd name="adj" fmla="val 0"/>
            </a:avLst>
          </a:prstGeom>
          <a:solidFill>
            <a:srgbClr val="2A2E38">
              <a:alpha val="100000"/>
            </a:srgbClr>
          </a:solidFill>
          <a:ln w="12700" cmpd="sng" cap="flat">
            <a:solidFill>
              <a:srgbClr val="4B5563">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3340100"/>
            <a:ext cx="304800" cy="304800"/>
          </a:xfrm>
          <a:prstGeom prst="rect">
            <a:avLst/>
          </a:prstGeom>
        </p:spPr>
      </p:pic>
      <p:sp>
        <p:nvSpPr>
          <p:cNvPr name="AutoShape 15" id="15"/>
          <p:cNvSpPr/>
          <p:nvPr/>
        </p:nvSpPr>
        <p:spPr>
          <a:xfrm rot="0" flipH="false" flipV="false">
            <a:off x="6858000" y="3340100"/>
            <a:ext cx="4635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接口透明：屏蔽存储形态差异</a:t>
            </a:r>
            <a:endParaRPr lang="en-US" sz="1100"/>
          </a:p>
        </p:txBody>
      </p:sp>
      <p:sp>
        <p:nvSpPr>
          <p:cNvPr name="AutoShape 16" id="16"/>
          <p:cNvSpPr/>
          <p:nvPr/>
        </p:nvSpPr>
        <p:spPr>
          <a:xfrm rot="0" flipH="false" flipV="false">
            <a:off x="6413500" y="37719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C5C7CA"/>
                </a:solidFill>
                <a:latin typeface="Noto Sans SC"/>
                <a:ea typeface="Noto Sans SC"/>
                <a:cs typeface="Noto Sans SC"/>
                <a:sym typeface="Noto Sans SC"/>
              </a:rPr>
              <a:t>查询层无需感知数据是内联存储还是外部 LOB 文件。无论是 VARCHAR 还是 TEXT 类型，SQL 语法保持一致，引擎内部自动完成路由，实现对应用层的零侵入。</a:t>
            </a:r>
            <a:endParaRPr lang="en-US" sz="1100"/>
          </a:p>
        </p:txBody>
      </p:sp>
      <p:sp>
        <p:nvSpPr>
          <p:cNvPr name="AutoShape 17" id="17"/>
          <p:cNvSpPr/>
          <p:nvPr/>
        </p:nvSpPr>
        <p:spPr>
          <a:xfrm rot="0" flipH="false" flipV="false">
            <a:off x="508000" y="5270500"/>
            <a:ext cx="11176000" cy="1143000"/>
          </a:xfrm>
          <a:prstGeom prst="roundRect">
            <a:avLst>
              <a:gd name="adj" fmla="val 0"/>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08000" y="5270500"/>
            <a:ext cx="76200" cy="1143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435600"/>
            <a:ext cx="1066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0B981"/>
                </a:solidFill>
                <a:latin typeface="Noto Sans SC"/>
                <a:ea typeface="Noto Sans SC"/>
                <a:cs typeface="Noto Sans SC"/>
                <a:sym typeface="Noto Sans SC"/>
              </a:rPr>
              <a:t>核心价值：无缝的开发体验</a:t>
            </a:r>
            <a:endParaRPr lang="en-US" sz="1100"/>
          </a:p>
        </p:txBody>
      </p:sp>
      <p:sp>
        <p:nvSpPr>
          <p:cNvPr name="AutoShape 20" id="20"/>
          <p:cNvSpPr/>
          <p:nvPr/>
        </p:nvSpPr>
        <p:spPr>
          <a:xfrm rot="0" flipH="false" flipV="false">
            <a:off x="762000" y="58166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solidFill>
                <a:latin typeface="Noto Sans SC"/>
                <a:ea typeface="Noto Sans SC"/>
                <a:cs typeface="Noto Sans SC"/>
                <a:sym typeface="Noto Sans SC"/>
              </a:rPr>
              <a:t>应用层开发者无需关心字段的物理存储形态（inline 或 LOB），TEXT 类型数据将像普通字段一样自然地出现在查询结果中，彻底消除了处理长文本带来的额外心智负担。</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1905000"/>
            <a:ext cx="5080000" cy="508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3B82F6">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609600"/>
            <a:ext cx="762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609600"/>
            <a:ext cx="1092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用户视角：TEXT 仍是普通字段</a:t>
            </a:r>
            <a:endParaRPr lang="en-US" sz="1100"/>
          </a:p>
        </p:txBody>
      </p:sp>
      <p:sp>
        <p:nvSpPr>
          <p:cNvPr name="AutoShape 6" id="6"/>
          <p:cNvSpPr/>
          <p:nvPr/>
        </p:nvSpPr>
        <p:spPr>
          <a:xfrm rot="0" flipH="false" flipV="false">
            <a:off x="508000" y="1778000"/>
            <a:ext cx="3556000" cy="3429000"/>
          </a:xfrm>
          <a:prstGeom prst="roundRect">
            <a:avLst>
              <a:gd name="adj" fmla="val 0"/>
            </a:avLst>
          </a:prstGeom>
          <a:solidFill>
            <a:srgbClr val="FFFFFF">
              <a:alpha val="4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11200" y="2006600"/>
            <a:ext cx="355600" cy="355600"/>
          </a:xfrm>
          <a:prstGeom prst="rect">
            <a:avLst/>
          </a:prstGeom>
        </p:spPr>
      </p:pic>
      <p:sp>
        <p:nvSpPr>
          <p:cNvPr name="AutoShape 8" id="8"/>
          <p:cNvSpPr/>
          <p:nvPr/>
        </p:nvSpPr>
        <p:spPr>
          <a:xfrm rot="0" flipH="false" flipV="false">
            <a:off x="1168400" y="2006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0B981"/>
                </a:solidFill>
                <a:latin typeface="Noto Sans SC"/>
                <a:ea typeface="Noto Sans SC"/>
                <a:cs typeface="Noto Sans SC"/>
                <a:sym typeface="Noto Sans SC"/>
              </a:rPr>
              <a:t>01 基础存储与返回</a:t>
            </a:r>
            <a:endParaRPr lang="en-US" sz="1100"/>
          </a:p>
        </p:txBody>
      </p:sp>
      <p:sp>
        <p:nvSpPr>
          <p:cNvPr name="AutoShape 9" id="9"/>
          <p:cNvSpPr/>
          <p:nvPr/>
        </p:nvSpPr>
        <p:spPr>
          <a:xfrm rot="0" flipH="false" flipV="false">
            <a:off x="711200" y="2603500"/>
            <a:ext cx="3149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D1D5DB"/>
                </a:solidFill>
                <a:latin typeface="Noto Sans SC"/>
                <a:ea typeface="Noto Sans SC"/>
                <a:cs typeface="Noto Sans SC"/>
                <a:sym typeface="Noto Sans SC"/>
              </a:rPr>
              <a:t>将非结构化文本直接定义为标准 TEXT 类型字段，写入数据后，通过标准查询即可直接返回完整文本内容，无需特殊的解析或转换步骤。</a:t>
            </a:r>
            <a:endParaRPr lang="en-US" sz="1100"/>
          </a:p>
        </p:txBody>
      </p:sp>
      <p:sp>
        <p:nvSpPr>
          <p:cNvPr name="AutoShape 10" id="10"/>
          <p:cNvSpPr/>
          <p:nvPr/>
        </p:nvSpPr>
        <p:spPr>
          <a:xfrm rot="0" flipH="false" flipV="false">
            <a:off x="711200" y="3937000"/>
            <a:ext cx="3149600" cy="1079500"/>
          </a:xfrm>
          <a:prstGeom prst="roundRect">
            <a:avLst>
              <a:gd name="adj" fmla="val 0"/>
            </a:avLst>
          </a:prstGeom>
          <a:solidFill>
            <a:srgbClr val="2D313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12800" y="4038600"/>
            <a:ext cx="29464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A7A7A7"/>
                </a:solidFill>
                <a:latin typeface="Consolas"/>
                <a:ea typeface="Consolas"/>
                <a:cs typeface="Consolas"/>
                <a:sym typeface="Consolas"/>
              </a:rPr>
              <a:t># 定义 Schema 与查询</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schema = [{"name":"doc", "type":"TEXT"}]</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 直接获取文本内容</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output_fields = ["doc"]</a:t>
            </a:r>
            <a:endParaRPr lang="en-US" sz="1100"/>
          </a:p>
        </p:txBody>
      </p:sp>
      <p:sp>
        <p:nvSpPr>
          <p:cNvPr name="AutoShape 12" id="12"/>
          <p:cNvSpPr/>
          <p:nvPr/>
        </p:nvSpPr>
        <p:spPr>
          <a:xfrm rot="0" flipH="false" flipV="false">
            <a:off x="4318000" y="1778000"/>
            <a:ext cx="3556000" cy="3429000"/>
          </a:xfrm>
          <a:prstGeom prst="roundRect">
            <a:avLst>
              <a:gd name="adj" fmla="val 0"/>
            </a:avLst>
          </a:prstGeom>
          <a:solidFill>
            <a:srgbClr val="FFFFFF">
              <a:alpha val="4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21200" y="2006600"/>
            <a:ext cx="355600" cy="355600"/>
          </a:xfrm>
          <a:prstGeom prst="rect">
            <a:avLst/>
          </a:prstGeom>
        </p:spPr>
      </p:pic>
      <p:sp>
        <p:nvSpPr>
          <p:cNvPr name="AutoShape 14" id="14"/>
          <p:cNvSpPr/>
          <p:nvPr/>
        </p:nvSpPr>
        <p:spPr>
          <a:xfrm rot="0" flipH="false" flipV="false">
            <a:off x="4978400" y="2006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0B981"/>
                </a:solidFill>
                <a:latin typeface="Noto Sans SC"/>
                <a:ea typeface="Noto Sans SC"/>
                <a:cs typeface="Noto Sans SC"/>
                <a:sym typeface="Noto Sans SC"/>
              </a:rPr>
              <a:t>02 text_match 精确过滤</a:t>
            </a:r>
            <a:endParaRPr lang="en-US" sz="1100"/>
          </a:p>
        </p:txBody>
      </p:sp>
      <p:sp>
        <p:nvSpPr>
          <p:cNvPr name="AutoShape 15" id="15"/>
          <p:cNvSpPr/>
          <p:nvPr/>
        </p:nvSpPr>
        <p:spPr>
          <a:xfrm rot="0" flipH="false" flipV="false">
            <a:off x="4521200" y="2603500"/>
            <a:ext cx="3149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D1D5DB"/>
                </a:solidFill>
                <a:latin typeface="Noto Sans SC"/>
                <a:ea typeface="Noto Sans SC"/>
                <a:cs typeface="Noto Sans SC"/>
                <a:sym typeface="Noto Sans SC"/>
              </a:rPr>
              <a:t>利用内置的 text_match 函数，在查询阶段对 TEXT 字段进行精准匹配过滤，快速筛选出包含特定关键词或短语的文档结果。</a:t>
            </a:r>
            <a:endParaRPr lang="en-US" sz="1100"/>
          </a:p>
        </p:txBody>
      </p:sp>
      <p:sp>
        <p:nvSpPr>
          <p:cNvPr name="AutoShape 16" id="16"/>
          <p:cNvSpPr/>
          <p:nvPr/>
        </p:nvSpPr>
        <p:spPr>
          <a:xfrm rot="0" flipH="false" flipV="false">
            <a:off x="4521200" y="3937000"/>
            <a:ext cx="3149600" cy="1079500"/>
          </a:xfrm>
          <a:prstGeom prst="roundRect">
            <a:avLst>
              <a:gd name="adj" fmla="val 0"/>
            </a:avLst>
          </a:prstGeom>
          <a:solidFill>
            <a:srgbClr val="2D313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622800" y="4038600"/>
            <a:ext cx="29464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A7A7A7"/>
                </a:solidFill>
                <a:latin typeface="Consolas"/>
                <a:ea typeface="Consolas"/>
                <a:cs typeface="Consolas"/>
                <a:sym typeface="Consolas"/>
              </a:rPr>
              <a:t># 过滤包含指定内容的文档</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filter = {</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"text_match": {"doc": "AI vector DB"}</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a:t>
            </a:r>
            <a:endParaRPr lang="en-US" sz="1100"/>
          </a:p>
        </p:txBody>
      </p:sp>
      <p:sp>
        <p:nvSpPr>
          <p:cNvPr name="AutoShape 18" id="18"/>
          <p:cNvSpPr/>
          <p:nvPr/>
        </p:nvSpPr>
        <p:spPr>
          <a:xfrm rot="0" flipH="false" flipV="false">
            <a:off x="8128000" y="1778000"/>
            <a:ext cx="3556000" cy="3429000"/>
          </a:xfrm>
          <a:prstGeom prst="roundRect">
            <a:avLst>
              <a:gd name="adj" fmla="val 0"/>
            </a:avLst>
          </a:prstGeom>
          <a:solidFill>
            <a:srgbClr val="FFFFFF">
              <a:alpha val="4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31200" y="2006600"/>
            <a:ext cx="355600" cy="355600"/>
          </a:xfrm>
          <a:prstGeom prst="rect">
            <a:avLst/>
          </a:prstGeom>
        </p:spPr>
      </p:pic>
      <p:sp>
        <p:nvSpPr>
          <p:cNvPr name="AutoShape 20" id="20"/>
          <p:cNvSpPr/>
          <p:nvPr/>
        </p:nvSpPr>
        <p:spPr>
          <a:xfrm rot="0" flipH="false" flipV="false">
            <a:off x="8788400" y="20066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0B981"/>
                </a:solidFill>
                <a:latin typeface="Noto Sans SC"/>
                <a:ea typeface="Noto Sans SC"/>
                <a:cs typeface="Noto Sans SC"/>
                <a:sym typeface="Noto Sans SC"/>
              </a:rPr>
              <a:t>03 BM25 全文语义检索</a:t>
            </a:r>
            <a:endParaRPr lang="en-US" sz="1100"/>
          </a:p>
        </p:txBody>
      </p:sp>
      <p:sp>
        <p:nvSpPr>
          <p:cNvPr name="AutoShape 21" id="21"/>
          <p:cNvSpPr/>
          <p:nvPr/>
        </p:nvSpPr>
        <p:spPr>
          <a:xfrm rot="0" flipH="false" flipV="false">
            <a:off x="8331200" y="2603500"/>
            <a:ext cx="3149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D1D5DB"/>
                </a:solidFill>
                <a:latin typeface="Noto Sans SC"/>
                <a:ea typeface="Noto Sans SC"/>
                <a:cs typeface="Noto Sans SC"/>
                <a:sym typeface="Noto Sans SC"/>
              </a:rPr>
              <a:t>通过添加 BM25 检索函数，自动将文本转换为稀疏向量，结合 BM25 相似度算法，实现高效的全文相关性排序与检索。</a:t>
            </a:r>
            <a:endParaRPr lang="en-US" sz="1100"/>
          </a:p>
        </p:txBody>
      </p:sp>
      <p:sp>
        <p:nvSpPr>
          <p:cNvPr name="AutoShape 22" id="22"/>
          <p:cNvSpPr/>
          <p:nvPr/>
        </p:nvSpPr>
        <p:spPr>
          <a:xfrm rot="0" flipH="false" flipV="false">
            <a:off x="8331200" y="3937000"/>
            <a:ext cx="3149600" cy="1079500"/>
          </a:xfrm>
          <a:prstGeom prst="roundRect">
            <a:avLst>
              <a:gd name="adj" fmla="val 0"/>
            </a:avLst>
          </a:prstGeom>
          <a:solidFill>
            <a:srgbClr val="2D313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432800" y="4038600"/>
            <a:ext cx="29464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A7A7A7"/>
                </a:solidFill>
                <a:latin typeface="Consolas"/>
                <a:ea typeface="Consolas"/>
                <a:cs typeface="Consolas"/>
                <a:sym typeface="Consolas"/>
              </a:rPr>
              <a:t># 配置 BM25 检索参数</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search_params = {</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"metric_type": "BM25",</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"params": {"k1": 1.2}</a:t>
            </a:r>
            <a:r>
              <a:rPr lang="en-US" b="false" i="false" strike="noStrike" u="none" sz="1200">
                <a:solidFill>
                  <a:srgbClr val="A7A7A7"/>
                </a:solidFill>
                <a:latin typeface="Consolas"/>
                <a:ea typeface="Consolas"/>
                <a:cs typeface="Consolas"/>
                <a:sym typeface="Consolas"/>
              </a:rPr>
              <a:t/>
            </a:r>
            <a:br>
              <a:rPr lang="en-US" b="false" i="false" strike="noStrike" u="none" sz="1200">
                <a:solidFill>
                  <a:srgbClr val="A7A7A7"/>
                </a:solidFill>
                <a:latin typeface="Consolas"/>
                <a:ea typeface="Consolas"/>
                <a:cs typeface="Consolas"/>
                <a:sym typeface="Consolas"/>
              </a:rPr>
            </a:br>
            <a:r>
              <a:rPr lang="en-US" b="false" i="false" strike="noStrike" u="none" sz="1200">
                <a:solidFill>
                  <a:srgbClr val="A7A7A7"/>
                </a:solidFill>
                <a:latin typeface="Consolas"/>
                <a:ea typeface="Consolas"/>
                <a:cs typeface="Consolas"/>
                <a:sym typeface="Consolas"/>
              </a:rPr>
              <a:t>}</a:t>
            </a:r>
            <a:endParaRPr lang="en-US" sz="1100"/>
          </a:p>
        </p:txBody>
      </p:sp>
      <p:sp>
        <p:nvSpPr>
          <p:cNvPr name="AutoShape 24" id="24"/>
          <p:cNvSpPr/>
          <p:nvPr/>
        </p:nvSpPr>
        <p:spPr>
          <a:xfrm rot="0" flipH="false" flipV="false">
            <a:off x="508000" y="5651500"/>
            <a:ext cx="11176000" cy="812800"/>
          </a:xfrm>
          <a:prstGeom prst="roundRect">
            <a:avLst>
              <a:gd name="adj" fmla="val 0"/>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508000" y="5651500"/>
            <a:ext cx="50800" cy="812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62000" y="57912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5E7EB"/>
                </a:solidFill>
                <a:latin typeface="Noto Sans SC"/>
                <a:ea typeface="Noto Sans SC"/>
                <a:cs typeface="Noto Sans SC"/>
                <a:sym typeface="Noto Sans SC"/>
              </a:rPr>
              <a:t>核心洞察：</a:t>
            </a:r>
            <a:r>
              <a:rPr lang="en-US" b="false" i="false" strike="noStrike" u="none" sz="1600">
                <a:solidFill>
                  <a:srgbClr val="1F2329"/>
                </a:solidFill>
                <a:latin typeface="Noto Sans SC"/>
                <a:ea typeface="Noto Sans SC"/>
                <a:cs typeface="Noto Sans SC"/>
                <a:sym typeface="Noto Sans SC"/>
              </a:rPr>
              <a:t> </a:t>
            </a:r>
            <a:r>
              <a:rPr lang="en-US" b="false" i="false" strike="noStrike" u="none" sz="1500">
                <a:solidFill>
                  <a:srgbClr val="9CA3AF"/>
                </a:solidFill>
                <a:latin typeface="Noto Sans SC"/>
                <a:ea typeface="Noto Sans SC"/>
                <a:cs typeface="Noto Sans SC"/>
                <a:sym typeface="Noto Sans SC"/>
              </a:rPr>
              <a:t>用户始终管理的是轻量级的标准 TEXT 字段，而非复杂的 LOB（大对象）文件存储，这极大地简化了数据模型设计与日常维护成本。</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3810000"/>
            <a:ext cx="5080000" cy="5080000"/>
          </a:xfrm>
          <a:prstGeom prst="ellipse">
            <a:avLst/>
          </a:prstGeom>
          <a:solidFill>
            <a:srgbClr val="22C55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3810000" cy="3810000"/>
          </a:xfrm>
          <a:prstGeom prst="ellipse">
            <a:avLst/>
          </a:prstGeom>
          <a:solidFill>
            <a:srgbClr val="22C55E">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76200" cy="508000"/>
          </a:xfrm>
          <a:prstGeom prst="roundRect">
            <a:avLst>
              <a:gd name="adj" fmla="val 0"/>
            </a:avLst>
          </a:prstGeom>
          <a:solidFill>
            <a:srgbClr val="22C55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GC：安全删除孤儿文件</a:t>
            </a:r>
            <a:endParaRPr lang="en-US" sz="1100"/>
          </a:p>
        </p:txBody>
      </p:sp>
      <p:sp>
        <p:nvSpPr>
          <p:cNvPr name="AutoShape 6" id="6"/>
          <p:cNvSpPr/>
          <p:nvPr/>
        </p:nvSpPr>
        <p:spPr>
          <a:xfrm rot="0" flipH="false" flipV="false">
            <a:off x="508000" y="1397000"/>
            <a:ext cx="11176000" cy="10795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524000"/>
            <a:ext cx="10668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94A3B8"/>
                </a:solidFill>
                <a:latin typeface="Noto Sans SC"/>
                <a:ea typeface="Noto Sans SC"/>
                <a:cs typeface="Noto Sans SC"/>
                <a:sym typeface="Noto Sans SC"/>
              </a:rPr>
              <a:t>核心痛点：孤儿文件的产生机制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D1D5DB"/>
                </a:solidFill>
                <a:latin typeface="Noto Sans SC"/>
                <a:ea typeface="Noto Sans SC"/>
                <a:cs typeface="Noto Sans SC"/>
                <a:sym typeface="Noto Sans SC"/>
              </a:rPr>
              <a:t>写入流程遵循「先写数据、后写元数据」原则：LOB 数据先行写入对象存储，随后才提交 Manifest 元数据。若在此间隙发生进程崩溃或网络抖动，会导致已落盘的 LOB 文件失去上层引用，成为无法被正常管理的「孤儿文件」，长期堆积将造成存储资源的严重浪费。</a:t>
            </a:r>
          </a:p>
        </p:txBody>
      </p:sp>
      <p:sp>
        <p:nvSpPr>
          <p:cNvPr name="AutoShape 8" id="8"/>
          <p:cNvSpPr/>
          <p:nvPr/>
        </p:nvSpPr>
        <p:spPr>
          <a:xfrm rot="0" flipH="false" flipV="false">
            <a:off x="508000" y="2794000"/>
            <a:ext cx="2667000" cy="2222500"/>
          </a:xfrm>
          <a:prstGeom prst="roundRect">
            <a:avLst>
              <a:gd name="adj" fmla="val 0"/>
            </a:avLst>
          </a:prstGeom>
          <a:solidFill>
            <a:srgbClr val="FFFFFF">
              <a:alpha val="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298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01</a:t>
            </a:r>
            <a:endParaRPr lang="en-US" sz="1100"/>
          </a:p>
        </p:txBody>
      </p:sp>
      <p:sp>
        <p:nvSpPr>
          <p:cNvPr name="AutoShape 10" id="10"/>
          <p:cNvSpPr/>
          <p:nvPr/>
        </p:nvSpPr>
        <p:spPr>
          <a:xfrm rot="0" flipH="false" flipV="false">
            <a:off x="635000" y="3492500"/>
            <a:ext cx="241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扫描有效元数据</a:t>
            </a:r>
            <a:endParaRPr lang="en-US" sz="1100"/>
          </a:p>
        </p:txBody>
      </p:sp>
      <p:sp>
        <p:nvSpPr>
          <p:cNvPr name="AutoShape 11" id="11"/>
          <p:cNvSpPr/>
          <p:nvPr/>
        </p:nvSpPr>
        <p:spPr>
          <a:xfrm rot="0" flipH="false" flipV="false">
            <a:off x="635000" y="3937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全量遍历集群中所有有效的 Segment Manifest 索引，并回溯 Binlog 变更记录，确保不遗漏任何有效数据引用。</a:t>
            </a:r>
            <a:endParaRPr lang="en-US" sz="1100"/>
          </a:p>
        </p:txBody>
      </p:sp>
      <p:sp>
        <p:nvSpPr>
          <p:cNvPr name="AutoShape 12" id="12"/>
          <p:cNvSpPr/>
          <p:nvPr/>
        </p:nvSpPr>
        <p:spPr>
          <a:xfrm rot="0" flipH="false" flipV="false">
            <a:off x="3340100" y="2794000"/>
            <a:ext cx="2667000" cy="2222500"/>
          </a:xfrm>
          <a:prstGeom prst="roundRect">
            <a:avLst>
              <a:gd name="adj" fmla="val 0"/>
            </a:avLst>
          </a:prstGeom>
          <a:solidFill>
            <a:srgbClr val="FFFFFF">
              <a:alpha val="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467100" y="298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02</a:t>
            </a:r>
            <a:endParaRPr lang="en-US" sz="1100"/>
          </a:p>
        </p:txBody>
      </p:sp>
      <p:sp>
        <p:nvSpPr>
          <p:cNvPr name="AutoShape 14" id="14"/>
          <p:cNvSpPr/>
          <p:nvPr/>
        </p:nvSpPr>
        <p:spPr>
          <a:xfrm rot="0" flipH="false" flipV="false">
            <a:off x="3467100" y="3492500"/>
            <a:ext cx="241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构建可达文件集</a:t>
            </a:r>
            <a:endParaRPr lang="en-US" sz="1100"/>
          </a:p>
        </p:txBody>
      </p:sp>
      <p:sp>
        <p:nvSpPr>
          <p:cNvPr name="AutoShape 15" id="15"/>
          <p:cNvSpPr/>
          <p:nvPr/>
        </p:nvSpPr>
        <p:spPr>
          <a:xfrm rot="0" flipH="false" flipV="false">
            <a:off x="3467100" y="3937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基于扫描结果，聚合生成所有被当前元数据引用的 LOB file_id 白名单集合，精准界定“存活”文件的范围。</a:t>
            </a:r>
            <a:endParaRPr lang="en-US" sz="1100"/>
          </a:p>
        </p:txBody>
      </p:sp>
      <p:sp>
        <p:nvSpPr>
          <p:cNvPr name="AutoShape 16" id="16"/>
          <p:cNvSpPr/>
          <p:nvPr/>
        </p:nvSpPr>
        <p:spPr>
          <a:xfrm rot="0" flipH="false" flipV="false">
            <a:off x="6172200" y="2794000"/>
            <a:ext cx="2667000" cy="2222500"/>
          </a:xfrm>
          <a:prstGeom prst="roundRect">
            <a:avLst>
              <a:gd name="adj" fmla="val 0"/>
            </a:avLst>
          </a:prstGeom>
          <a:solidFill>
            <a:srgbClr val="FFFFFF">
              <a:alpha val="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99200" y="298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03</a:t>
            </a:r>
            <a:endParaRPr lang="en-US" sz="1100"/>
          </a:p>
        </p:txBody>
      </p:sp>
      <p:sp>
        <p:nvSpPr>
          <p:cNvPr name="AutoShape 18" id="18"/>
          <p:cNvSpPr/>
          <p:nvPr/>
        </p:nvSpPr>
        <p:spPr>
          <a:xfrm rot="0" flipH="false" flipV="false">
            <a:off x="6299200" y="3492500"/>
            <a:ext cx="241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枚举存储存量文件</a:t>
            </a:r>
            <a:endParaRPr lang="en-US" sz="1100"/>
          </a:p>
        </p:txBody>
      </p:sp>
      <p:sp>
        <p:nvSpPr>
          <p:cNvPr name="AutoShape 19" id="19"/>
          <p:cNvSpPr/>
          <p:nvPr/>
        </p:nvSpPr>
        <p:spPr>
          <a:xfrm rot="0" flipH="false" flipV="false">
            <a:off x="6299200" y="3937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直接访问底层对象存储 Bucket，列出当前实际物理存在的所有 LOB 数据文件，形成待比对的全集列表。</a:t>
            </a:r>
            <a:endParaRPr lang="en-US" sz="1100"/>
          </a:p>
        </p:txBody>
      </p:sp>
      <p:sp>
        <p:nvSpPr>
          <p:cNvPr name="AutoShape 20" id="20"/>
          <p:cNvSpPr/>
          <p:nvPr/>
        </p:nvSpPr>
        <p:spPr>
          <a:xfrm rot="0" flipH="false" flipV="false">
            <a:off x="9004300" y="2794000"/>
            <a:ext cx="2667000" cy="2222500"/>
          </a:xfrm>
          <a:prstGeom prst="roundRect">
            <a:avLst>
              <a:gd name="adj" fmla="val 0"/>
            </a:avLst>
          </a:prstGeom>
          <a:solidFill>
            <a:srgbClr val="FFFFFF">
              <a:alpha val="5000"/>
            </a:srgbClr>
          </a:solidFill>
          <a:ln w="12700" cmpd="sng" cap="flat">
            <a:solidFill>
              <a:srgbClr val="22C55E">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131300" y="298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C55E"/>
                </a:solidFill>
                <a:latin typeface="Noto Sans SC"/>
                <a:ea typeface="Noto Sans SC"/>
                <a:cs typeface="Noto Sans SC"/>
                <a:sym typeface="Noto Sans SC"/>
              </a:rPr>
              <a:t>04</a:t>
            </a:r>
            <a:endParaRPr lang="en-US" sz="1100"/>
          </a:p>
        </p:txBody>
      </p:sp>
      <p:sp>
        <p:nvSpPr>
          <p:cNvPr name="AutoShape 22" id="22"/>
          <p:cNvSpPr/>
          <p:nvPr/>
        </p:nvSpPr>
        <p:spPr>
          <a:xfrm rot="0" flipH="false" flipV="false">
            <a:off x="9131300" y="3492500"/>
            <a:ext cx="241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安全清理与删除</a:t>
            </a:r>
            <a:endParaRPr lang="en-US" sz="1100"/>
          </a:p>
        </p:txBody>
      </p:sp>
      <p:sp>
        <p:nvSpPr>
          <p:cNvPr name="AutoShape 23" id="23"/>
          <p:cNvSpPr/>
          <p:nvPr/>
        </p:nvSpPr>
        <p:spPr>
          <a:xfrm rot="0" flipH="false" flipV="false">
            <a:off x="9131300" y="3937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比对白名单，筛选出不在列表中的文件。仅删除那些既无引用、且创建时间早于安全时间窗口的孤立文件。</a:t>
            </a:r>
            <a:endParaRPr lang="en-US" sz="1100"/>
          </a:p>
        </p:txBody>
      </p:sp>
      <p:sp>
        <p:nvSpPr>
          <p:cNvPr name="AutoShape 24" id="24"/>
          <p:cNvSpPr/>
          <p:nvPr/>
        </p:nvSpPr>
        <p:spPr>
          <a:xfrm rot="0" flipH="false" flipV="false">
            <a:off x="508000" y="5334000"/>
            <a:ext cx="11176000" cy="1079500"/>
          </a:xfrm>
          <a:prstGeom prst="roundRect">
            <a:avLst>
              <a:gd name="adj" fmla="val 0"/>
            </a:avLst>
          </a:prstGeom>
          <a:solidFill>
            <a:srgbClr val="22C55E">
              <a:alpha val="10000"/>
            </a:srgbClr>
          </a:solidFill>
          <a:ln w="12700" cmpd="sng" cap="flat">
            <a:solidFill>
              <a:srgbClr val="22C55E">
                <a:alpha val="10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5664200"/>
            <a:ext cx="406400" cy="406400"/>
          </a:xfrm>
          <a:prstGeom prst="rect">
            <a:avLst/>
          </a:prstGeom>
        </p:spPr>
      </p:pic>
      <p:sp>
        <p:nvSpPr>
          <p:cNvPr name="AutoShape 26" id="26"/>
          <p:cNvSpPr/>
          <p:nvPr/>
        </p:nvSpPr>
        <p:spPr>
          <a:xfrm rot="0" flipH="false" flipV="false">
            <a:off x="1333500" y="54864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22C55E"/>
                </a:solidFill>
                <a:latin typeface="Noto Sans SC"/>
                <a:ea typeface="Noto Sans SC"/>
                <a:cs typeface="Noto Sans SC"/>
                <a:sym typeface="Noto Sans SC"/>
              </a:rPr>
              <a:t>安全时间窗口：防止误删的核心防线</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E5E7EB"/>
                </a:solidFill>
                <a:latin typeface="Noto Sans SC"/>
                <a:ea typeface="Noto Sans SC"/>
                <a:cs typeface="Noto Sans SC"/>
                <a:sym typeface="Noto Sans SC"/>
              </a:rPr>
              <a:t>为避免误删正在进行 flush 或 compaction 操作的临时中间文件，GC 机制引入了“安全时间窗口”（通常配置为 1-2 小时）。系统仅清理早于该时间窗口的无引用文件，为异步写入操作预留充足的完成与提交时间，从根本上杜绝因时序问题导致的数据误删风险。</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635000"/>
            <a:ext cx="76200" cy="508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635000"/>
            <a:ext cx="10160000" cy="584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TEXT + LOB 改变了什么？</a:t>
            </a:r>
            <a:endParaRPr lang="en-US" sz="1100"/>
          </a:p>
        </p:txBody>
      </p:sp>
      <p:sp>
        <p:nvSpPr>
          <p:cNvPr name="AutoShape 6" id="6"/>
          <p:cNvSpPr/>
          <p:nvPr/>
        </p:nvSpPr>
        <p:spPr>
          <a:xfrm rot="0" flipH="false" flipV="false">
            <a:off x="508000" y="1524000"/>
            <a:ext cx="11176000" cy="1079500"/>
          </a:xfrm>
          <a:prstGeom prst="roundRect">
            <a:avLst>
              <a:gd name="adj" fmla="val 0"/>
            </a:avLst>
          </a:prstGeom>
          <a:solidFill>
            <a:srgbClr val="10B981">
              <a:alpha val="8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676400"/>
            <a:ext cx="1066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D1D5DB"/>
                </a:solidFill>
                <a:latin typeface="Noto Sans SC"/>
                <a:ea typeface="Noto Sans SC"/>
                <a:cs typeface="Noto Sans SC"/>
                <a:sym typeface="Noto Sans SC"/>
              </a:rPr>
              <a:t>核心变革：将</a:t>
            </a:r>
            <a:r>
              <a:rPr lang="en-US" b="true" i="false" strike="noStrike" u="none" sz="1600">
                <a:solidFill>
                  <a:srgbClr val="1F2329"/>
                </a:solidFill>
                <a:latin typeface="Noto Sans SC"/>
                <a:ea typeface="Noto Sans SC"/>
                <a:cs typeface="Noto Sans SC"/>
                <a:sym typeface="Noto Sans SC"/>
              </a:rPr>
              <a:t> </a:t>
            </a:r>
            <a:r>
              <a:rPr lang="en-US" b="true" i="false" strike="noStrike" u="none" sz="1600">
                <a:solidFill>
                  <a:srgbClr val="10B981"/>
                </a:solidFill>
                <a:latin typeface="Noto Sans SC"/>
                <a:ea typeface="Noto Sans SC"/>
                <a:cs typeface="Noto Sans SC"/>
                <a:sym typeface="Noto Sans SC"/>
              </a:rPr>
              <a:t>大文本 Payload 从 Segment 主数据路径剥离</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D1D5DB"/>
                </a:solidFill>
                <a:latin typeface="Noto Sans SC"/>
                <a:ea typeface="Noto Sans SC"/>
                <a:cs typeface="Noto Sans SC"/>
                <a:sym typeface="Noto Sans SC"/>
              </a:rPr>
              <a:t>，实现存储分层与解耦，同时保持上层数据模型与接口完全兼容，确保业务逻辑无需重构即可平滑迁移。</a:t>
            </a:r>
            <a:endParaRPr lang="en-US" sz="1100"/>
          </a:p>
        </p:txBody>
      </p:sp>
      <p:sp>
        <p:nvSpPr>
          <p:cNvPr name="AutoShape 8" id="8"/>
          <p:cNvSpPr/>
          <p:nvPr/>
        </p:nvSpPr>
        <p:spPr>
          <a:xfrm rot="0" flipH="false" flipV="false">
            <a:off x="508000" y="2921000"/>
            <a:ext cx="3556000" cy="3111500"/>
          </a:xfrm>
          <a:prstGeom prst="roundRect">
            <a:avLst>
              <a:gd name="adj" fmla="val 0"/>
            </a:avLst>
          </a:prstGeom>
          <a:solidFill>
            <a:srgbClr val="FFFFFF">
              <a:alpha val="4000"/>
            </a:srgbClr>
          </a:solidFill>
          <a:ln w="12700" cmpd="sng" cap="flat">
            <a:solidFill>
              <a:srgbClr val="FFFFFF">
                <a:alpha val="8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3200400"/>
            <a:ext cx="355600" cy="355600"/>
          </a:xfrm>
          <a:prstGeom prst="rect">
            <a:avLst/>
          </a:prstGeom>
        </p:spPr>
      </p:pic>
      <p:sp>
        <p:nvSpPr>
          <p:cNvPr name="AutoShape 10" id="10"/>
          <p:cNvSpPr/>
          <p:nvPr/>
        </p:nvSpPr>
        <p:spPr>
          <a:xfrm rot="0" flipH="false" flipV="false">
            <a:off x="1219200" y="320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01 数据一致性保障</a:t>
            </a:r>
            <a:endParaRPr lang="en-US" sz="1100"/>
          </a:p>
        </p:txBody>
      </p:sp>
      <p:cxnSp>
        <p:nvCxnSpPr>
          <p:cNvPr name="Connector 11" id="11"/>
          <p:cNvCxnSpPr/>
          <p:nvPr/>
        </p:nvCxnSpPr>
        <p:spPr>
          <a:xfrm rot="-14323" flipH="false" flipV="false">
            <a:off x="762013" y="3778250"/>
            <a:ext cx="304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2" id="12"/>
          <p:cNvSpPr/>
          <p:nvPr/>
        </p:nvSpPr>
        <p:spPr>
          <a:xfrm rot="0" flipH="false" flipV="false">
            <a:off x="762000" y="40005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9CA3AF"/>
                </a:solidFill>
                <a:latin typeface="Noto Sans SC"/>
                <a:ea typeface="Noto Sans SC"/>
                <a:cs typeface="Noto Sans SC"/>
                <a:sym typeface="Noto Sans SC"/>
              </a:rPr>
              <a:t>打破存储壁垒，将向量特征、原始文本内容与业务 Metadata 统一收敛至同一条逻辑记录中，实现全量数据的原子化增删改查，彻底消除多副本异步同步带来的数据偏差与版本不一致风险。</a:t>
            </a:r>
            <a:endParaRPr lang="en-US" sz="1100"/>
          </a:p>
        </p:txBody>
      </p:sp>
      <p:sp>
        <p:nvSpPr>
          <p:cNvPr name="AutoShape 13" id="13"/>
          <p:cNvSpPr/>
          <p:nvPr/>
        </p:nvSpPr>
        <p:spPr>
          <a:xfrm rot="0" flipH="false" flipV="false">
            <a:off x="4318000" y="2921000"/>
            <a:ext cx="3556000" cy="3111500"/>
          </a:xfrm>
          <a:prstGeom prst="roundRect">
            <a:avLst>
              <a:gd name="adj" fmla="val 0"/>
            </a:avLst>
          </a:prstGeom>
          <a:solidFill>
            <a:srgbClr val="FFFFFF">
              <a:alpha val="4000"/>
            </a:srgbClr>
          </a:solidFill>
          <a:ln w="12700" cmpd="sng" cap="flat">
            <a:solidFill>
              <a:srgbClr val="FFFFFF">
                <a:alpha val="8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3200400"/>
            <a:ext cx="355600" cy="355600"/>
          </a:xfrm>
          <a:prstGeom prst="rect">
            <a:avLst/>
          </a:prstGeom>
        </p:spPr>
      </p:pic>
      <p:sp>
        <p:nvSpPr>
          <p:cNvPr name="AutoShape 15" id="15"/>
          <p:cNvSpPr/>
          <p:nvPr/>
        </p:nvSpPr>
        <p:spPr>
          <a:xfrm rot="0" flipH="false" flipV="false">
            <a:off x="5029200" y="320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02 检索链路极致简化</a:t>
            </a:r>
            <a:endParaRPr lang="en-US" sz="1100"/>
          </a:p>
        </p:txBody>
      </p:sp>
      <p:cxnSp>
        <p:nvCxnSpPr>
          <p:cNvPr name="Connector 16" id="16"/>
          <p:cNvCxnSpPr/>
          <p:nvPr/>
        </p:nvCxnSpPr>
        <p:spPr>
          <a:xfrm rot="-14323" flipH="false" flipV="false">
            <a:off x="4572013" y="3778250"/>
            <a:ext cx="304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7" id="17"/>
          <p:cNvSpPr/>
          <p:nvPr/>
        </p:nvSpPr>
        <p:spPr>
          <a:xfrm rot="0" flipH="false" flipV="false">
            <a:off x="4572000" y="40005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9CA3AF"/>
                </a:solidFill>
                <a:latin typeface="Noto Sans SC"/>
                <a:ea typeface="Noto Sans SC"/>
                <a:cs typeface="Noto Sans SC"/>
                <a:sym typeface="Noto Sans SC"/>
              </a:rPr>
              <a:t>无需为混合检索维护多套独立存储引擎，单引擎即可承载多模态数据的高效检索。消除了复杂的跨存储关联查询逻辑，大幅降低系统架构复杂度与运维的心智负担。</a:t>
            </a:r>
            <a:endParaRPr lang="en-US" sz="1100"/>
          </a:p>
        </p:txBody>
      </p:sp>
      <p:sp>
        <p:nvSpPr>
          <p:cNvPr name="AutoShape 18" id="18"/>
          <p:cNvSpPr/>
          <p:nvPr/>
        </p:nvSpPr>
        <p:spPr>
          <a:xfrm rot="0" flipH="false" flipV="false">
            <a:off x="8128000" y="2921000"/>
            <a:ext cx="3556000" cy="3111500"/>
          </a:xfrm>
          <a:prstGeom prst="roundRect">
            <a:avLst>
              <a:gd name="adj" fmla="val 0"/>
            </a:avLst>
          </a:prstGeom>
          <a:solidFill>
            <a:srgbClr val="FFFFFF">
              <a:alpha val="4000"/>
            </a:srgbClr>
          </a:solidFill>
          <a:ln w="12700" cmpd="sng" cap="flat">
            <a:solidFill>
              <a:srgbClr val="FFFFFF">
                <a:alpha val="8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3200400"/>
            <a:ext cx="355600" cy="355600"/>
          </a:xfrm>
          <a:prstGeom prst="rect">
            <a:avLst/>
          </a:prstGeom>
        </p:spPr>
      </p:pic>
      <p:sp>
        <p:nvSpPr>
          <p:cNvPr name="AutoShape 20" id="20"/>
          <p:cNvSpPr/>
          <p:nvPr/>
        </p:nvSpPr>
        <p:spPr>
          <a:xfrm rot="0" flipH="false" flipV="false">
            <a:off x="8839200" y="3200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03 资源成本显著优化</a:t>
            </a:r>
            <a:endParaRPr lang="en-US" sz="1100"/>
          </a:p>
        </p:txBody>
      </p:sp>
      <p:cxnSp>
        <p:nvCxnSpPr>
          <p:cNvPr name="Connector 21" id="21"/>
          <p:cNvCxnSpPr/>
          <p:nvPr/>
        </p:nvCxnSpPr>
        <p:spPr>
          <a:xfrm rot="-14323" flipH="false" flipV="false">
            <a:off x="8382013" y="3778250"/>
            <a:ext cx="304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2" id="22"/>
          <p:cNvSpPr/>
          <p:nvPr/>
        </p:nvSpPr>
        <p:spPr>
          <a:xfrm rot="0" flipH="false" flipV="false">
            <a:off x="8382000" y="40005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9CA3AF"/>
                </a:solidFill>
                <a:latin typeface="Noto Sans SC"/>
                <a:ea typeface="Noto Sans SC"/>
                <a:cs typeface="Noto Sans SC"/>
                <a:sym typeface="Noto Sans SC"/>
              </a:rPr>
              <a:t>长文本不再占用内存进行频繁的 Compaction 与 I/O 扫描，减少了存储放大效应。通过冷热分层策略，让昂贵的高性能存储资源仅服务于核心索引，大幅降低基础设施成本。</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1D2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255000" y="-1905000"/>
            <a:ext cx="5080000" cy="5080000"/>
          </a:xfrm>
          <a:prstGeom prst="ellipse">
            <a:avLst/>
          </a:prstGeom>
          <a:solidFill>
            <a:srgbClr val="00C48C">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4445000"/>
            <a:ext cx="3810000" cy="3810000"/>
          </a:xfrm>
          <a:prstGeom prst="ellipse">
            <a:avLst/>
          </a:prstGeom>
          <a:solidFill>
            <a:srgbClr val="00C48C">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905000"/>
            <a:ext cx="12192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000">
                <a:solidFill>
                  <a:srgbClr val="FFFFFF"/>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4826000" y="3556000"/>
            <a:ext cx="2540000" cy="50800"/>
          </a:xfrm>
          <a:prstGeom prst="roundRect">
            <a:avLst>
              <a:gd name="adj" fmla="val 0"/>
            </a:avLst>
          </a:prstGeom>
          <a:solidFill>
            <a:srgbClr val="00C48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937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7200">
                <a:solidFill>
                  <a:srgbClr val="00C48C"/>
                </a:solidFill>
                <a:latin typeface="Noto Sans SC"/>
                <a:ea typeface="Noto Sans SC"/>
                <a:cs typeface="Noto Sans SC"/>
                <a:sym typeface="Noto Sans SC"/>
              </a:rPr>
              <a:t>Q &amp; A</a:t>
            </a:r>
            <a:endParaRPr lang="en-US" sz="1100"/>
          </a:p>
        </p:txBody>
      </p:sp>
      <p:sp>
        <p:nvSpPr>
          <p:cNvPr name="AutoShape 7" id="7"/>
          <p:cNvSpPr/>
          <p:nvPr/>
        </p:nvSpPr>
        <p:spPr>
          <a:xfrm rot="0" flipH="false" flipV="false">
            <a:off x="0" y="5778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50196"/>
                  </a:srgbClr>
                </a:solidFill>
                <a:latin typeface="Noto Sans SC"/>
                <a:ea typeface="Noto Sans SC"/>
                <a:cs typeface="Noto Sans SC"/>
                <a:sym typeface="Noto Sans SC"/>
              </a:rPr>
              <a:t>Milvus 3.0 | 原生 TEXT 与 LOB</a:t>
            </a:r>
            <a:endParaRPr lang="en-US" sz="1100"/>
          </a:p>
        </p:txBody>
      </p:sp>
      <p:pic>
        <p:nvPicPr>
          <p:cNvPr name="Picture 8" id="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{"Label":"1","ContentProducer":"001191110102MACQD9K64010000","ProduceID":"7675820379213958091","ReservedCode1":"","ContentPropagator":"","PropagateID":"","ReservedCode2":""}</vt:lpwstr>
  </property>
</Properties>
</file>